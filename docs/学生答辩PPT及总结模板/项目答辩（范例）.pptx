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3"/>
  </p:notesMasterIdLst>
  <p:sldIdLst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8" r:id="rId11"/>
    <p:sldId id="264" r:id="rId12"/>
    <p:sldId id="269" r:id="rId13"/>
    <p:sldId id="265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6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4B2EF-EA18-4FC8-9A90-01E01C098866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94800" y="3240000"/>
            <a:ext cx="5400000" cy="9252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DACD57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37600" y="4716000"/>
            <a:ext cx="6321600" cy="648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正五边形 8"/>
          <p:cNvSpPr/>
          <p:nvPr/>
        </p:nvSpPr>
        <p:spPr>
          <a:xfrm>
            <a:off x="5338169" y="1528270"/>
            <a:ext cx="1515662" cy="1443488"/>
          </a:xfrm>
          <a:prstGeom prst="pentagon">
            <a:avLst/>
          </a:prstGeom>
          <a:noFill/>
          <a:ln w="34925">
            <a:solidFill>
              <a:srgbClr val="DAC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733298" y="1319422"/>
            <a:ext cx="897925" cy="1861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1500" dirty="0">
                <a:solidFill>
                  <a:srgbClr val="DACD57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L</a:t>
            </a:r>
            <a:endParaRPr lang="zh-CN" altLang="en-US" sz="11500" dirty="0">
              <a:solidFill>
                <a:srgbClr val="DACD57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376101" y="4714787"/>
            <a:ext cx="54288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8616602" y="3176518"/>
            <a:ext cx="1039407" cy="527815"/>
            <a:chOff x="8608364" y="3176518"/>
            <a:chExt cx="1039407" cy="527815"/>
          </a:xfrm>
        </p:grpSpPr>
        <p:sp>
          <p:nvSpPr>
            <p:cNvPr id="13" name="等腰三角形 12"/>
            <p:cNvSpPr/>
            <p:nvPr/>
          </p:nvSpPr>
          <p:spPr>
            <a:xfrm rot="14024970">
              <a:off x="8832201" y="2952681"/>
              <a:ext cx="295275" cy="742950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>
              <a:off x="9075070" y="3131632"/>
              <a:ext cx="251461" cy="893941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616736" y="3780133"/>
            <a:ext cx="1073174" cy="494005"/>
            <a:chOff x="2732068" y="3780133"/>
            <a:chExt cx="1073174" cy="494005"/>
          </a:xfrm>
        </p:grpSpPr>
        <p:sp>
          <p:nvSpPr>
            <p:cNvPr id="16" name="等腰三角形 15"/>
            <p:cNvSpPr/>
            <p:nvPr/>
          </p:nvSpPr>
          <p:spPr>
            <a:xfrm rot="2737123">
              <a:off x="3286129" y="3755026"/>
              <a:ext cx="295275" cy="742950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4912153">
              <a:off x="3053308" y="3458893"/>
              <a:ext cx="251461" cy="893941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376101" y="5369744"/>
            <a:ext cx="54288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43200" y="4006800"/>
            <a:ext cx="6710400" cy="583200"/>
          </a:xfrm>
          <a:solidFill>
            <a:srgbClr val="DACD57"/>
          </a:solidFill>
        </p:spPr>
        <p:txBody>
          <a:bodyPr anchor="b">
            <a:no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2"/>
          <p:cNvSpPr/>
          <p:nvPr/>
        </p:nvSpPr>
        <p:spPr>
          <a:xfrm>
            <a:off x="4714875" y="-9524"/>
            <a:ext cx="2762250" cy="2362199"/>
          </a:xfrm>
          <a:custGeom>
            <a:avLst/>
            <a:gdLst>
              <a:gd name="connsiteX0" fmla="*/ 0 w 2762250"/>
              <a:gd name="connsiteY0" fmla="*/ 0 h 2466975"/>
              <a:gd name="connsiteX1" fmla="*/ 2762250 w 2762250"/>
              <a:gd name="connsiteY1" fmla="*/ 0 h 2466975"/>
              <a:gd name="connsiteX2" fmla="*/ 2762250 w 2762250"/>
              <a:gd name="connsiteY2" fmla="*/ 2466975 h 2466975"/>
              <a:gd name="connsiteX3" fmla="*/ 0 w 2762250"/>
              <a:gd name="connsiteY3" fmla="*/ 2466975 h 2466975"/>
              <a:gd name="connsiteX4" fmla="*/ 0 w 2762250"/>
              <a:gd name="connsiteY4" fmla="*/ 0 h 2466975"/>
              <a:gd name="connsiteX0-1" fmla="*/ 0 w 2762250"/>
              <a:gd name="connsiteY0-2" fmla="*/ 0 h 2476500"/>
              <a:gd name="connsiteX1-3" fmla="*/ 2762250 w 2762250"/>
              <a:gd name="connsiteY1-4" fmla="*/ 0 h 2476500"/>
              <a:gd name="connsiteX2-5" fmla="*/ 2762250 w 2762250"/>
              <a:gd name="connsiteY2-6" fmla="*/ 2466975 h 2476500"/>
              <a:gd name="connsiteX3-7" fmla="*/ 1428750 w 2762250"/>
              <a:gd name="connsiteY3-8" fmla="*/ 2476500 h 2476500"/>
              <a:gd name="connsiteX4-9" fmla="*/ 0 w 2762250"/>
              <a:gd name="connsiteY4-10" fmla="*/ 2466975 h 2476500"/>
              <a:gd name="connsiteX5" fmla="*/ 0 w 2762250"/>
              <a:gd name="connsiteY5" fmla="*/ 0 h 2476500"/>
              <a:gd name="connsiteX0-11" fmla="*/ 0 w 2762250"/>
              <a:gd name="connsiteY0-12" fmla="*/ 0 h 2895600"/>
              <a:gd name="connsiteX1-13" fmla="*/ 2762250 w 2762250"/>
              <a:gd name="connsiteY1-14" fmla="*/ 0 h 2895600"/>
              <a:gd name="connsiteX2-15" fmla="*/ 2762250 w 2762250"/>
              <a:gd name="connsiteY2-16" fmla="*/ 2466975 h 2895600"/>
              <a:gd name="connsiteX3-17" fmla="*/ 1428750 w 2762250"/>
              <a:gd name="connsiteY3-18" fmla="*/ 2895600 h 2895600"/>
              <a:gd name="connsiteX4-19" fmla="*/ 0 w 2762250"/>
              <a:gd name="connsiteY4-20" fmla="*/ 2466975 h 2895600"/>
              <a:gd name="connsiteX5-21" fmla="*/ 0 w 2762250"/>
              <a:gd name="connsiteY5-22" fmla="*/ 0 h 2895600"/>
              <a:gd name="connsiteX0-23" fmla="*/ 0 w 2762250"/>
              <a:gd name="connsiteY0-24" fmla="*/ 0 h 2884110"/>
              <a:gd name="connsiteX1-25" fmla="*/ 2762250 w 2762250"/>
              <a:gd name="connsiteY1-26" fmla="*/ 0 h 2884110"/>
              <a:gd name="connsiteX2-27" fmla="*/ 2762250 w 2762250"/>
              <a:gd name="connsiteY2-28" fmla="*/ 2466975 h 2884110"/>
              <a:gd name="connsiteX3-29" fmla="*/ 1371600 w 2762250"/>
              <a:gd name="connsiteY3-30" fmla="*/ 2884110 h 2884110"/>
              <a:gd name="connsiteX4-31" fmla="*/ 0 w 2762250"/>
              <a:gd name="connsiteY4-32" fmla="*/ 2466975 h 2884110"/>
              <a:gd name="connsiteX5-33" fmla="*/ 0 w 2762250"/>
              <a:gd name="connsiteY5-34" fmla="*/ 0 h 28841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762250" h="2884110">
                <a:moveTo>
                  <a:pt x="0" y="0"/>
                </a:moveTo>
                <a:lnTo>
                  <a:pt x="2762250" y="0"/>
                </a:lnTo>
                <a:lnTo>
                  <a:pt x="2762250" y="2466975"/>
                </a:lnTo>
                <a:lnTo>
                  <a:pt x="1371600" y="2884110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0970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64800" y="2066400"/>
            <a:ext cx="8276400" cy="2880000"/>
          </a:xfrm>
          <a:solidFill>
            <a:srgbClr val="DACD57">
              <a:alpha val="75000"/>
            </a:srgbClr>
          </a:solidFill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内容占位符 18"/>
          <p:cNvSpPr>
            <a:spLocks noGrp="1"/>
          </p:cNvSpPr>
          <p:nvPr>
            <p:ph sz="quarter" idx="13"/>
          </p:nvPr>
        </p:nvSpPr>
        <p:spPr>
          <a:xfrm>
            <a:off x="4311939" y="4178175"/>
            <a:ext cx="3568123" cy="5739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竖排标题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304800"/>
            <a:ext cx="10515600" cy="5861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BD9D8-00EC-4D12-B78E-1DA996BE6864}" type="datetimeFigureOut">
              <a:rPr lang="zh-CN" altLang="en-US" smtClean="0"/>
              <a:t>2021/2/22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BE381-8C8C-474D-A902-87322301DB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8616602" y="3176518"/>
            <a:ext cx="1039407" cy="527815"/>
            <a:chOff x="8608364" y="3176518"/>
            <a:chExt cx="1039407" cy="527815"/>
          </a:xfrm>
        </p:grpSpPr>
        <p:sp>
          <p:nvSpPr>
            <p:cNvPr id="14" name="等腰三角形 13"/>
            <p:cNvSpPr/>
            <p:nvPr/>
          </p:nvSpPr>
          <p:spPr>
            <a:xfrm rot="14024970">
              <a:off x="8832201" y="2952681"/>
              <a:ext cx="295275" cy="742950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>
              <a:off x="9075070" y="3131632"/>
              <a:ext cx="251461" cy="893941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616736" y="3780133"/>
            <a:ext cx="1073174" cy="494005"/>
            <a:chOff x="2732068" y="3780133"/>
            <a:chExt cx="1073174" cy="494005"/>
          </a:xfrm>
        </p:grpSpPr>
        <p:sp>
          <p:nvSpPr>
            <p:cNvPr id="18" name="等腰三角形 17"/>
            <p:cNvSpPr/>
            <p:nvPr/>
          </p:nvSpPr>
          <p:spPr>
            <a:xfrm rot="2737123">
              <a:off x="3286129" y="3755026"/>
              <a:ext cx="295275" cy="742950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4912153">
              <a:off x="3053308" y="3458893"/>
              <a:ext cx="251461" cy="893941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标题 2"/>
          <p:cNvSpPr>
            <a:spLocks noGrp="1"/>
          </p:cNvSpPr>
          <p:nvPr/>
        </p:nvSpPr>
        <p:spPr>
          <a:xfrm>
            <a:off x="1524635" y="376367"/>
            <a:ext cx="9144000" cy="10304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微软雅黑" panose="020B0503020204020204" charset="-122"/>
                <a:ea typeface="微软雅黑" panose="020B0503020204020204" charset="-122"/>
              </a:rPr>
              <a:t>xx</a:t>
            </a:r>
            <a:r>
              <a:rPr b="1"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副标题 4"/>
          <p:cNvSpPr/>
          <p:nvPr/>
        </p:nvSpPr>
        <p:spPr>
          <a:xfrm>
            <a:off x="2915920" y="4884420"/>
            <a:ext cx="6360795" cy="47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项目负责人：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副标题 4"/>
          <p:cNvSpPr/>
          <p:nvPr/>
        </p:nvSpPr>
        <p:spPr>
          <a:xfrm>
            <a:off x="2915285" y="4225925"/>
            <a:ext cx="6360795" cy="47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指导教师：</a:t>
            </a:r>
            <a:r>
              <a:rPr lang="en-US" altLang="zh-CN" dirty="0"/>
              <a:t>xxx</a:t>
            </a:r>
            <a:endParaRPr lang="zh-CN" altLang="en-US" dirty="0"/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910013" y="3902600"/>
            <a:ext cx="4752975" cy="461665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910013" y="4699812"/>
            <a:ext cx="4752975" cy="461665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910013" y="5517954"/>
            <a:ext cx="4752975" cy="461665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10013" y="3105389"/>
            <a:ext cx="4752975" cy="461665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14875" y="-9524"/>
            <a:ext cx="2762250" cy="2362199"/>
          </a:xfrm>
          <a:custGeom>
            <a:avLst/>
            <a:gdLst>
              <a:gd name="connsiteX0" fmla="*/ 0 w 2762250"/>
              <a:gd name="connsiteY0" fmla="*/ 0 h 2466975"/>
              <a:gd name="connsiteX1" fmla="*/ 2762250 w 2762250"/>
              <a:gd name="connsiteY1" fmla="*/ 0 h 2466975"/>
              <a:gd name="connsiteX2" fmla="*/ 2762250 w 2762250"/>
              <a:gd name="connsiteY2" fmla="*/ 2466975 h 2466975"/>
              <a:gd name="connsiteX3" fmla="*/ 0 w 2762250"/>
              <a:gd name="connsiteY3" fmla="*/ 2466975 h 2466975"/>
              <a:gd name="connsiteX4" fmla="*/ 0 w 2762250"/>
              <a:gd name="connsiteY4" fmla="*/ 0 h 2466975"/>
              <a:gd name="connsiteX0-1" fmla="*/ 0 w 2762250"/>
              <a:gd name="connsiteY0-2" fmla="*/ 0 h 2476500"/>
              <a:gd name="connsiteX1-3" fmla="*/ 2762250 w 2762250"/>
              <a:gd name="connsiteY1-4" fmla="*/ 0 h 2476500"/>
              <a:gd name="connsiteX2-5" fmla="*/ 2762250 w 2762250"/>
              <a:gd name="connsiteY2-6" fmla="*/ 2466975 h 2476500"/>
              <a:gd name="connsiteX3-7" fmla="*/ 1428750 w 2762250"/>
              <a:gd name="connsiteY3-8" fmla="*/ 2476500 h 2476500"/>
              <a:gd name="connsiteX4-9" fmla="*/ 0 w 2762250"/>
              <a:gd name="connsiteY4-10" fmla="*/ 2466975 h 2476500"/>
              <a:gd name="connsiteX5" fmla="*/ 0 w 2762250"/>
              <a:gd name="connsiteY5" fmla="*/ 0 h 2476500"/>
              <a:gd name="connsiteX0-11" fmla="*/ 0 w 2762250"/>
              <a:gd name="connsiteY0-12" fmla="*/ 0 h 2895600"/>
              <a:gd name="connsiteX1-13" fmla="*/ 2762250 w 2762250"/>
              <a:gd name="connsiteY1-14" fmla="*/ 0 h 2895600"/>
              <a:gd name="connsiteX2-15" fmla="*/ 2762250 w 2762250"/>
              <a:gd name="connsiteY2-16" fmla="*/ 2466975 h 2895600"/>
              <a:gd name="connsiteX3-17" fmla="*/ 1428750 w 2762250"/>
              <a:gd name="connsiteY3-18" fmla="*/ 2895600 h 2895600"/>
              <a:gd name="connsiteX4-19" fmla="*/ 0 w 2762250"/>
              <a:gd name="connsiteY4-20" fmla="*/ 2466975 h 2895600"/>
              <a:gd name="connsiteX5-21" fmla="*/ 0 w 2762250"/>
              <a:gd name="connsiteY5-22" fmla="*/ 0 h 2895600"/>
              <a:gd name="connsiteX0-23" fmla="*/ 0 w 2762250"/>
              <a:gd name="connsiteY0-24" fmla="*/ 0 h 2884110"/>
              <a:gd name="connsiteX1-25" fmla="*/ 2762250 w 2762250"/>
              <a:gd name="connsiteY1-26" fmla="*/ 0 h 2884110"/>
              <a:gd name="connsiteX2-27" fmla="*/ 2762250 w 2762250"/>
              <a:gd name="connsiteY2-28" fmla="*/ 2466975 h 2884110"/>
              <a:gd name="connsiteX3-29" fmla="*/ 1371600 w 2762250"/>
              <a:gd name="connsiteY3-30" fmla="*/ 2884110 h 2884110"/>
              <a:gd name="connsiteX4-31" fmla="*/ 0 w 2762250"/>
              <a:gd name="connsiteY4-32" fmla="*/ 2466975 h 2884110"/>
              <a:gd name="connsiteX5-33" fmla="*/ 0 w 2762250"/>
              <a:gd name="connsiteY5-34" fmla="*/ 0 h 28841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762250" h="2884110">
                <a:moveTo>
                  <a:pt x="0" y="0"/>
                </a:moveTo>
                <a:lnTo>
                  <a:pt x="2762250" y="0"/>
                </a:lnTo>
                <a:lnTo>
                  <a:pt x="2762250" y="2466975"/>
                </a:lnTo>
                <a:lnTo>
                  <a:pt x="1371600" y="2884110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61490" y="289244"/>
            <a:ext cx="3069020" cy="1599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目录</a:t>
            </a:r>
            <a:endParaRPr lang="en-US" altLang="zh-CN" sz="5400" dirty="0">
              <a:solidFill>
                <a:schemeClr val="tx1">
                  <a:lumMod val="85000"/>
                  <a:lumOff val="1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  <a:p>
            <a:pPr algn="ctr"/>
            <a:r>
              <a:rPr lang="en-US" altLang="zh-CN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幼线简体" panose="03000509000000000000" pitchFamily="65" charset="-122"/>
                <a:ea typeface="方正幼线简体" panose="03000509000000000000" pitchFamily="65" charset="-122"/>
              </a:rPr>
              <a:t>CONTENTS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方正幼线简体" panose="03000509000000000000" pitchFamily="65" charset="-122"/>
              <a:ea typeface="方正幼线简体" panose="03000509000000000000" pitchFamily="65" charset="-122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4813526" y="104774"/>
            <a:ext cx="2564948" cy="2143125"/>
          </a:xfrm>
          <a:custGeom>
            <a:avLst/>
            <a:gdLst>
              <a:gd name="connsiteX0" fmla="*/ 0 w 2762250"/>
              <a:gd name="connsiteY0" fmla="*/ 0 h 2466975"/>
              <a:gd name="connsiteX1" fmla="*/ 2762250 w 2762250"/>
              <a:gd name="connsiteY1" fmla="*/ 0 h 2466975"/>
              <a:gd name="connsiteX2" fmla="*/ 2762250 w 2762250"/>
              <a:gd name="connsiteY2" fmla="*/ 2466975 h 2466975"/>
              <a:gd name="connsiteX3" fmla="*/ 0 w 2762250"/>
              <a:gd name="connsiteY3" fmla="*/ 2466975 h 2466975"/>
              <a:gd name="connsiteX4" fmla="*/ 0 w 2762250"/>
              <a:gd name="connsiteY4" fmla="*/ 0 h 2466975"/>
              <a:gd name="connsiteX0-1" fmla="*/ 0 w 2762250"/>
              <a:gd name="connsiteY0-2" fmla="*/ 0 h 2476500"/>
              <a:gd name="connsiteX1-3" fmla="*/ 2762250 w 2762250"/>
              <a:gd name="connsiteY1-4" fmla="*/ 0 h 2476500"/>
              <a:gd name="connsiteX2-5" fmla="*/ 2762250 w 2762250"/>
              <a:gd name="connsiteY2-6" fmla="*/ 2466975 h 2476500"/>
              <a:gd name="connsiteX3-7" fmla="*/ 1428750 w 2762250"/>
              <a:gd name="connsiteY3-8" fmla="*/ 2476500 h 2476500"/>
              <a:gd name="connsiteX4-9" fmla="*/ 0 w 2762250"/>
              <a:gd name="connsiteY4-10" fmla="*/ 2466975 h 2476500"/>
              <a:gd name="connsiteX5" fmla="*/ 0 w 2762250"/>
              <a:gd name="connsiteY5" fmla="*/ 0 h 2476500"/>
              <a:gd name="connsiteX0-11" fmla="*/ 0 w 2762250"/>
              <a:gd name="connsiteY0-12" fmla="*/ 0 h 2895600"/>
              <a:gd name="connsiteX1-13" fmla="*/ 2762250 w 2762250"/>
              <a:gd name="connsiteY1-14" fmla="*/ 0 h 2895600"/>
              <a:gd name="connsiteX2-15" fmla="*/ 2762250 w 2762250"/>
              <a:gd name="connsiteY2-16" fmla="*/ 2466975 h 2895600"/>
              <a:gd name="connsiteX3-17" fmla="*/ 1428750 w 2762250"/>
              <a:gd name="connsiteY3-18" fmla="*/ 2895600 h 2895600"/>
              <a:gd name="connsiteX4-19" fmla="*/ 0 w 2762250"/>
              <a:gd name="connsiteY4-20" fmla="*/ 2466975 h 2895600"/>
              <a:gd name="connsiteX5-21" fmla="*/ 0 w 2762250"/>
              <a:gd name="connsiteY5-22" fmla="*/ 0 h 2895600"/>
              <a:gd name="connsiteX0-23" fmla="*/ 0 w 2762250"/>
              <a:gd name="connsiteY0-24" fmla="*/ 0 h 2895600"/>
              <a:gd name="connsiteX1-25" fmla="*/ 2762250 w 2762250"/>
              <a:gd name="connsiteY1-26" fmla="*/ 0 h 2895600"/>
              <a:gd name="connsiteX2-27" fmla="*/ 2762250 w 2762250"/>
              <a:gd name="connsiteY2-28" fmla="*/ 2466975 h 2895600"/>
              <a:gd name="connsiteX3-29" fmla="*/ 1356946 w 2762250"/>
              <a:gd name="connsiteY3-30" fmla="*/ 2895600 h 2895600"/>
              <a:gd name="connsiteX4-31" fmla="*/ 0 w 2762250"/>
              <a:gd name="connsiteY4-32" fmla="*/ 2466975 h 2895600"/>
              <a:gd name="connsiteX5-33" fmla="*/ 0 w 2762250"/>
              <a:gd name="connsiteY5-34" fmla="*/ 0 h 2895600"/>
              <a:gd name="connsiteX0-35" fmla="*/ 0 w 2762250"/>
              <a:gd name="connsiteY0-36" fmla="*/ 0 h 2895600"/>
              <a:gd name="connsiteX1-37" fmla="*/ 2762250 w 2762250"/>
              <a:gd name="connsiteY1-38" fmla="*/ 0 h 2895600"/>
              <a:gd name="connsiteX2-39" fmla="*/ 2762250 w 2762250"/>
              <a:gd name="connsiteY2-40" fmla="*/ 2466975 h 2895600"/>
              <a:gd name="connsiteX3-41" fmla="*/ 1397977 w 2762250"/>
              <a:gd name="connsiteY3-42" fmla="*/ 2895600 h 2895600"/>
              <a:gd name="connsiteX4-43" fmla="*/ 0 w 2762250"/>
              <a:gd name="connsiteY4-44" fmla="*/ 2466975 h 2895600"/>
              <a:gd name="connsiteX5-45" fmla="*/ 0 w 2762250"/>
              <a:gd name="connsiteY5-46" fmla="*/ 0 h 2895600"/>
              <a:gd name="connsiteX0-47" fmla="*/ 0 w 2762250"/>
              <a:gd name="connsiteY0-48" fmla="*/ 0 h 2895600"/>
              <a:gd name="connsiteX1-49" fmla="*/ 2762250 w 2762250"/>
              <a:gd name="connsiteY1-50" fmla="*/ 0 h 2895600"/>
              <a:gd name="connsiteX2-51" fmla="*/ 2762250 w 2762250"/>
              <a:gd name="connsiteY2-52" fmla="*/ 2466975 h 2895600"/>
              <a:gd name="connsiteX3-53" fmla="*/ 1377461 w 2762250"/>
              <a:gd name="connsiteY3-54" fmla="*/ 2895600 h 2895600"/>
              <a:gd name="connsiteX4-55" fmla="*/ 0 w 2762250"/>
              <a:gd name="connsiteY4-56" fmla="*/ 2466975 h 2895600"/>
              <a:gd name="connsiteX5-57" fmla="*/ 0 w 2762250"/>
              <a:gd name="connsiteY5-58" fmla="*/ 0 h 2895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762250" h="2895600">
                <a:moveTo>
                  <a:pt x="0" y="0"/>
                </a:moveTo>
                <a:lnTo>
                  <a:pt x="2762250" y="0"/>
                </a:lnTo>
                <a:lnTo>
                  <a:pt x="2762250" y="2466975"/>
                </a:lnTo>
                <a:lnTo>
                  <a:pt x="1377461" y="2895600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38588" y="3105389"/>
            <a:ext cx="50434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项目简介</a:t>
            </a:r>
          </a:p>
        </p:txBody>
      </p:sp>
      <p:sp>
        <p:nvSpPr>
          <p:cNvPr id="13" name="矩形 12"/>
          <p:cNvSpPr/>
          <p:nvPr/>
        </p:nvSpPr>
        <p:spPr>
          <a:xfrm>
            <a:off x="3938588" y="3902601"/>
            <a:ext cx="50434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项目架构</a:t>
            </a:r>
          </a:p>
        </p:txBody>
      </p:sp>
      <p:sp>
        <p:nvSpPr>
          <p:cNvPr id="14" name="矩形 13"/>
          <p:cNvSpPr/>
          <p:nvPr/>
        </p:nvSpPr>
        <p:spPr>
          <a:xfrm>
            <a:off x="3938588" y="4720743"/>
            <a:ext cx="50434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项目应用技术</a:t>
            </a:r>
          </a:p>
        </p:txBody>
      </p:sp>
      <p:sp>
        <p:nvSpPr>
          <p:cNvPr id="15" name="矩形 14"/>
          <p:cNvSpPr/>
          <p:nvPr/>
        </p:nvSpPr>
        <p:spPr>
          <a:xfrm>
            <a:off x="3938588" y="5558135"/>
            <a:ext cx="50434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项目功能浏览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293269" y="3086160"/>
            <a:ext cx="571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293269" y="3858671"/>
            <a:ext cx="66198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93269" y="4662514"/>
            <a:ext cx="6167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93269" y="5435025"/>
            <a:ext cx="66198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321844" y="3110933"/>
            <a:ext cx="514350" cy="514350"/>
          </a:xfrm>
          <a:prstGeom prst="ellipse">
            <a:avLst/>
          </a:prstGeom>
          <a:noFill/>
          <a:ln w="15875">
            <a:solidFill>
              <a:srgbClr val="DAC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3321844" y="3880524"/>
            <a:ext cx="514350" cy="514350"/>
          </a:xfrm>
          <a:prstGeom prst="ellipse">
            <a:avLst/>
          </a:prstGeom>
          <a:noFill/>
          <a:ln w="15875">
            <a:solidFill>
              <a:srgbClr val="DAC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3321844" y="4680683"/>
            <a:ext cx="514350" cy="514350"/>
          </a:xfrm>
          <a:prstGeom prst="ellipse">
            <a:avLst/>
          </a:prstGeom>
          <a:noFill/>
          <a:ln w="15875">
            <a:solidFill>
              <a:srgbClr val="DAC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321844" y="5461567"/>
            <a:ext cx="514350" cy="514350"/>
          </a:xfrm>
          <a:prstGeom prst="ellipse">
            <a:avLst/>
          </a:prstGeom>
          <a:noFill/>
          <a:ln w="15875">
            <a:solidFill>
              <a:srgbClr val="DAC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"/>
          <p:cNvSpPr/>
          <p:nvPr/>
        </p:nvSpPr>
        <p:spPr>
          <a:xfrm>
            <a:off x="4813526" y="104774"/>
            <a:ext cx="2564948" cy="2143125"/>
          </a:xfrm>
          <a:custGeom>
            <a:avLst/>
            <a:gdLst>
              <a:gd name="connsiteX0" fmla="*/ 0 w 2762250"/>
              <a:gd name="connsiteY0" fmla="*/ 0 h 2466975"/>
              <a:gd name="connsiteX1" fmla="*/ 2762250 w 2762250"/>
              <a:gd name="connsiteY1" fmla="*/ 0 h 2466975"/>
              <a:gd name="connsiteX2" fmla="*/ 2762250 w 2762250"/>
              <a:gd name="connsiteY2" fmla="*/ 2466975 h 2466975"/>
              <a:gd name="connsiteX3" fmla="*/ 0 w 2762250"/>
              <a:gd name="connsiteY3" fmla="*/ 2466975 h 2466975"/>
              <a:gd name="connsiteX4" fmla="*/ 0 w 2762250"/>
              <a:gd name="connsiteY4" fmla="*/ 0 h 2466975"/>
              <a:gd name="connsiteX0-1" fmla="*/ 0 w 2762250"/>
              <a:gd name="connsiteY0-2" fmla="*/ 0 h 2476500"/>
              <a:gd name="connsiteX1-3" fmla="*/ 2762250 w 2762250"/>
              <a:gd name="connsiteY1-4" fmla="*/ 0 h 2476500"/>
              <a:gd name="connsiteX2-5" fmla="*/ 2762250 w 2762250"/>
              <a:gd name="connsiteY2-6" fmla="*/ 2466975 h 2476500"/>
              <a:gd name="connsiteX3-7" fmla="*/ 1428750 w 2762250"/>
              <a:gd name="connsiteY3-8" fmla="*/ 2476500 h 2476500"/>
              <a:gd name="connsiteX4-9" fmla="*/ 0 w 2762250"/>
              <a:gd name="connsiteY4-10" fmla="*/ 2466975 h 2476500"/>
              <a:gd name="connsiteX5" fmla="*/ 0 w 2762250"/>
              <a:gd name="connsiteY5" fmla="*/ 0 h 2476500"/>
              <a:gd name="connsiteX0-11" fmla="*/ 0 w 2762250"/>
              <a:gd name="connsiteY0-12" fmla="*/ 0 h 2895600"/>
              <a:gd name="connsiteX1-13" fmla="*/ 2762250 w 2762250"/>
              <a:gd name="connsiteY1-14" fmla="*/ 0 h 2895600"/>
              <a:gd name="connsiteX2-15" fmla="*/ 2762250 w 2762250"/>
              <a:gd name="connsiteY2-16" fmla="*/ 2466975 h 2895600"/>
              <a:gd name="connsiteX3-17" fmla="*/ 1428750 w 2762250"/>
              <a:gd name="connsiteY3-18" fmla="*/ 2895600 h 2895600"/>
              <a:gd name="connsiteX4-19" fmla="*/ 0 w 2762250"/>
              <a:gd name="connsiteY4-20" fmla="*/ 2466975 h 2895600"/>
              <a:gd name="connsiteX5-21" fmla="*/ 0 w 2762250"/>
              <a:gd name="connsiteY5-22" fmla="*/ 0 h 2895600"/>
              <a:gd name="connsiteX0-23" fmla="*/ 0 w 2762250"/>
              <a:gd name="connsiteY0-24" fmla="*/ 0 h 2895600"/>
              <a:gd name="connsiteX1-25" fmla="*/ 2762250 w 2762250"/>
              <a:gd name="connsiteY1-26" fmla="*/ 0 h 2895600"/>
              <a:gd name="connsiteX2-27" fmla="*/ 2762250 w 2762250"/>
              <a:gd name="connsiteY2-28" fmla="*/ 2466975 h 2895600"/>
              <a:gd name="connsiteX3-29" fmla="*/ 1356946 w 2762250"/>
              <a:gd name="connsiteY3-30" fmla="*/ 2895600 h 2895600"/>
              <a:gd name="connsiteX4-31" fmla="*/ 0 w 2762250"/>
              <a:gd name="connsiteY4-32" fmla="*/ 2466975 h 2895600"/>
              <a:gd name="connsiteX5-33" fmla="*/ 0 w 2762250"/>
              <a:gd name="connsiteY5-34" fmla="*/ 0 h 2895600"/>
              <a:gd name="connsiteX0-35" fmla="*/ 0 w 2762250"/>
              <a:gd name="connsiteY0-36" fmla="*/ 0 h 2895600"/>
              <a:gd name="connsiteX1-37" fmla="*/ 2762250 w 2762250"/>
              <a:gd name="connsiteY1-38" fmla="*/ 0 h 2895600"/>
              <a:gd name="connsiteX2-39" fmla="*/ 2762250 w 2762250"/>
              <a:gd name="connsiteY2-40" fmla="*/ 2466975 h 2895600"/>
              <a:gd name="connsiteX3-41" fmla="*/ 1397977 w 2762250"/>
              <a:gd name="connsiteY3-42" fmla="*/ 2895600 h 2895600"/>
              <a:gd name="connsiteX4-43" fmla="*/ 0 w 2762250"/>
              <a:gd name="connsiteY4-44" fmla="*/ 2466975 h 2895600"/>
              <a:gd name="connsiteX5-45" fmla="*/ 0 w 2762250"/>
              <a:gd name="connsiteY5-46" fmla="*/ 0 h 2895600"/>
              <a:gd name="connsiteX0-47" fmla="*/ 0 w 2762250"/>
              <a:gd name="connsiteY0-48" fmla="*/ 0 h 2895600"/>
              <a:gd name="connsiteX1-49" fmla="*/ 2762250 w 2762250"/>
              <a:gd name="connsiteY1-50" fmla="*/ 0 h 2895600"/>
              <a:gd name="connsiteX2-51" fmla="*/ 2762250 w 2762250"/>
              <a:gd name="connsiteY2-52" fmla="*/ 2466975 h 2895600"/>
              <a:gd name="connsiteX3-53" fmla="*/ 1377461 w 2762250"/>
              <a:gd name="connsiteY3-54" fmla="*/ 2895600 h 2895600"/>
              <a:gd name="connsiteX4-55" fmla="*/ 0 w 2762250"/>
              <a:gd name="connsiteY4-56" fmla="*/ 2466975 h 2895600"/>
              <a:gd name="connsiteX5-57" fmla="*/ 0 w 2762250"/>
              <a:gd name="connsiteY5-58" fmla="*/ 0 h 2895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762250" h="2895600">
                <a:moveTo>
                  <a:pt x="0" y="0"/>
                </a:moveTo>
                <a:lnTo>
                  <a:pt x="2762250" y="0"/>
                </a:lnTo>
                <a:lnTo>
                  <a:pt x="2762250" y="2466975"/>
                </a:lnTo>
                <a:lnTo>
                  <a:pt x="1377461" y="2895600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65479" y="539048"/>
            <a:ext cx="106104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7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2784763" y="4006800"/>
            <a:ext cx="6710400" cy="583200"/>
          </a:xfrm>
        </p:spPr>
        <p:txBody>
          <a:bodyPr/>
          <a:lstStyle/>
          <a:p>
            <a:r>
              <a:rPr lang="zh-CN" altLang="en-US" sz="3200" dirty="0"/>
              <a:t>项目简介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/>
        </p:nvSpPr>
        <p:spPr>
          <a:xfrm>
            <a:off x="0" y="0"/>
            <a:ext cx="6096000" cy="6858000"/>
          </a:xfrm>
          <a:prstGeom prst="homePlat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11942" y="1921599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“教材订购系统”网站</a:t>
            </a:r>
          </a:p>
        </p:txBody>
      </p:sp>
      <p:sp>
        <p:nvSpPr>
          <p:cNvPr id="6" name="矩形 5"/>
          <p:cNvSpPr/>
          <p:nvPr/>
        </p:nvSpPr>
        <p:spPr>
          <a:xfrm>
            <a:off x="411942" y="2642870"/>
            <a:ext cx="4693458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Dotum" panose="020B0600000101010101" pitchFamily="34" charset="-127"/>
                <a:ea typeface="Dotum" panose="020B0600000101010101" pitchFamily="34" charset="-127"/>
                <a:cs typeface="Lao UI" panose="020B0502040204020203" pitchFamily="34" charset="0"/>
              </a:rPr>
              <a:t>	</a:t>
            </a:r>
            <a:r>
              <a:rPr lang="zh-CN" altLang="en-US" dirty="0"/>
              <a:t>随着生活节奏的加快和网络的发展，教师、学生对教材的订购越来越重视，希望获取教材的过程简单，方便，快速。因而，做一个好的学校教材订购系统是十分重要的。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整个项目应用</a:t>
            </a:r>
            <a:r>
              <a:rPr lang="en-US" altLang="zh-CN" dirty="0"/>
              <a:t>SSM</a:t>
            </a:r>
            <a:r>
              <a:rPr lang="zh-CN" altLang="en-US" dirty="0"/>
              <a:t>框架实现了一个</a:t>
            </a:r>
            <a:r>
              <a:rPr lang="en-US" altLang="zh-CN" dirty="0"/>
              <a:t>“</a:t>
            </a:r>
            <a:r>
              <a:rPr lang="zh-CN" altLang="en-US" dirty="0"/>
              <a:t>教材订购系统</a:t>
            </a:r>
            <a:r>
              <a:rPr lang="en-US" altLang="zh-CN" dirty="0"/>
              <a:t>”</a:t>
            </a:r>
            <a:r>
              <a:rPr lang="zh-CN" altLang="en-US" dirty="0"/>
              <a:t>，</a:t>
            </a:r>
            <a:r>
              <a:rPr lang="zh-CN" altLang="en-US" dirty="0">
                <a:sym typeface="+mn-ea"/>
              </a:rPr>
              <a:t>分为View层（显示层）、Controller层（控制层）、Service层（业务逻辑层）、DAO层（数据库访问对象层）</a:t>
            </a:r>
            <a:r>
              <a:rPr lang="zh-CN" altLang="en-US" dirty="0"/>
              <a:t>”。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60795" y="1642110"/>
            <a:ext cx="488061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前台</a:t>
            </a:r>
          </a:p>
          <a:p>
            <a:r>
              <a:rPr lang="zh-CN" altLang="en-US">
                <a:solidFill>
                  <a:schemeClr val="bg1"/>
                </a:solidFill>
              </a:rPr>
              <a:t>主要实现了</a:t>
            </a:r>
          </a:p>
          <a:p>
            <a:r>
              <a:rPr lang="zh-CN" altLang="en-US">
                <a:solidFill>
                  <a:schemeClr val="bg1"/>
                </a:solidFill>
              </a:rPr>
              <a:t>用户的登录、注册；</a:t>
            </a:r>
          </a:p>
          <a:p>
            <a:r>
              <a:rPr lang="zh-CN" altLang="en-US">
                <a:solidFill>
                  <a:schemeClr val="bg1"/>
                </a:solidFill>
              </a:rPr>
              <a:t>管理员、教师、学生、供应商角色相关的内容显示功能；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60795" y="3566160"/>
            <a:ext cx="488061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后台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主要实现了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用户的权限控制；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信息的访问安全控制；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数据库的增删改查。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"/>
          <p:cNvSpPr/>
          <p:nvPr/>
        </p:nvSpPr>
        <p:spPr>
          <a:xfrm>
            <a:off x="4813526" y="104774"/>
            <a:ext cx="2564948" cy="2143125"/>
          </a:xfrm>
          <a:custGeom>
            <a:avLst/>
            <a:gdLst>
              <a:gd name="connsiteX0" fmla="*/ 0 w 2762250"/>
              <a:gd name="connsiteY0" fmla="*/ 0 h 2466975"/>
              <a:gd name="connsiteX1" fmla="*/ 2762250 w 2762250"/>
              <a:gd name="connsiteY1" fmla="*/ 0 h 2466975"/>
              <a:gd name="connsiteX2" fmla="*/ 2762250 w 2762250"/>
              <a:gd name="connsiteY2" fmla="*/ 2466975 h 2466975"/>
              <a:gd name="connsiteX3" fmla="*/ 0 w 2762250"/>
              <a:gd name="connsiteY3" fmla="*/ 2466975 h 2466975"/>
              <a:gd name="connsiteX4" fmla="*/ 0 w 2762250"/>
              <a:gd name="connsiteY4" fmla="*/ 0 h 2466975"/>
              <a:gd name="connsiteX0-1" fmla="*/ 0 w 2762250"/>
              <a:gd name="connsiteY0-2" fmla="*/ 0 h 2476500"/>
              <a:gd name="connsiteX1-3" fmla="*/ 2762250 w 2762250"/>
              <a:gd name="connsiteY1-4" fmla="*/ 0 h 2476500"/>
              <a:gd name="connsiteX2-5" fmla="*/ 2762250 w 2762250"/>
              <a:gd name="connsiteY2-6" fmla="*/ 2466975 h 2476500"/>
              <a:gd name="connsiteX3-7" fmla="*/ 1428750 w 2762250"/>
              <a:gd name="connsiteY3-8" fmla="*/ 2476500 h 2476500"/>
              <a:gd name="connsiteX4-9" fmla="*/ 0 w 2762250"/>
              <a:gd name="connsiteY4-10" fmla="*/ 2466975 h 2476500"/>
              <a:gd name="connsiteX5" fmla="*/ 0 w 2762250"/>
              <a:gd name="connsiteY5" fmla="*/ 0 h 2476500"/>
              <a:gd name="connsiteX0-11" fmla="*/ 0 w 2762250"/>
              <a:gd name="connsiteY0-12" fmla="*/ 0 h 2895600"/>
              <a:gd name="connsiteX1-13" fmla="*/ 2762250 w 2762250"/>
              <a:gd name="connsiteY1-14" fmla="*/ 0 h 2895600"/>
              <a:gd name="connsiteX2-15" fmla="*/ 2762250 w 2762250"/>
              <a:gd name="connsiteY2-16" fmla="*/ 2466975 h 2895600"/>
              <a:gd name="connsiteX3-17" fmla="*/ 1428750 w 2762250"/>
              <a:gd name="connsiteY3-18" fmla="*/ 2895600 h 2895600"/>
              <a:gd name="connsiteX4-19" fmla="*/ 0 w 2762250"/>
              <a:gd name="connsiteY4-20" fmla="*/ 2466975 h 2895600"/>
              <a:gd name="connsiteX5-21" fmla="*/ 0 w 2762250"/>
              <a:gd name="connsiteY5-22" fmla="*/ 0 h 2895600"/>
              <a:gd name="connsiteX0-23" fmla="*/ 0 w 2762250"/>
              <a:gd name="connsiteY0-24" fmla="*/ 0 h 2895600"/>
              <a:gd name="connsiteX1-25" fmla="*/ 2762250 w 2762250"/>
              <a:gd name="connsiteY1-26" fmla="*/ 0 h 2895600"/>
              <a:gd name="connsiteX2-27" fmla="*/ 2762250 w 2762250"/>
              <a:gd name="connsiteY2-28" fmla="*/ 2466975 h 2895600"/>
              <a:gd name="connsiteX3-29" fmla="*/ 1356946 w 2762250"/>
              <a:gd name="connsiteY3-30" fmla="*/ 2895600 h 2895600"/>
              <a:gd name="connsiteX4-31" fmla="*/ 0 w 2762250"/>
              <a:gd name="connsiteY4-32" fmla="*/ 2466975 h 2895600"/>
              <a:gd name="connsiteX5-33" fmla="*/ 0 w 2762250"/>
              <a:gd name="connsiteY5-34" fmla="*/ 0 h 2895600"/>
              <a:gd name="connsiteX0-35" fmla="*/ 0 w 2762250"/>
              <a:gd name="connsiteY0-36" fmla="*/ 0 h 2895600"/>
              <a:gd name="connsiteX1-37" fmla="*/ 2762250 w 2762250"/>
              <a:gd name="connsiteY1-38" fmla="*/ 0 h 2895600"/>
              <a:gd name="connsiteX2-39" fmla="*/ 2762250 w 2762250"/>
              <a:gd name="connsiteY2-40" fmla="*/ 2466975 h 2895600"/>
              <a:gd name="connsiteX3-41" fmla="*/ 1397977 w 2762250"/>
              <a:gd name="connsiteY3-42" fmla="*/ 2895600 h 2895600"/>
              <a:gd name="connsiteX4-43" fmla="*/ 0 w 2762250"/>
              <a:gd name="connsiteY4-44" fmla="*/ 2466975 h 2895600"/>
              <a:gd name="connsiteX5-45" fmla="*/ 0 w 2762250"/>
              <a:gd name="connsiteY5-46" fmla="*/ 0 h 2895600"/>
              <a:gd name="connsiteX0-47" fmla="*/ 0 w 2762250"/>
              <a:gd name="connsiteY0-48" fmla="*/ 0 h 2895600"/>
              <a:gd name="connsiteX1-49" fmla="*/ 2762250 w 2762250"/>
              <a:gd name="connsiteY1-50" fmla="*/ 0 h 2895600"/>
              <a:gd name="connsiteX2-51" fmla="*/ 2762250 w 2762250"/>
              <a:gd name="connsiteY2-52" fmla="*/ 2466975 h 2895600"/>
              <a:gd name="connsiteX3-53" fmla="*/ 1377461 w 2762250"/>
              <a:gd name="connsiteY3-54" fmla="*/ 2895600 h 2895600"/>
              <a:gd name="connsiteX4-55" fmla="*/ 0 w 2762250"/>
              <a:gd name="connsiteY4-56" fmla="*/ 2466975 h 2895600"/>
              <a:gd name="connsiteX5-57" fmla="*/ 0 w 2762250"/>
              <a:gd name="connsiteY5-58" fmla="*/ 0 h 2895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762250" h="2895600">
                <a:moveTo>
                  <a:pt x="0" y="0"/>
                </a:moveTo>
                <a:lnTo>
                  <a:pt x="2762250" y="0"/>
                </a:lnTo>
                <a:lnTo>
                  <a:pt x="2762250" y="2466975"/>
                </a:lnTo>
                <a:lnTo>
                  <a:pt x="1377461" y="2895600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5130" y="539115"/>
            <a:ext cx="11417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7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2784763" y="4006800"/>
            <a:ext cx="6710400" cy="583200"/>
          </a:xfrm>
        </p:spPr>
        <p:txBody>
          <a:bodyPr/>
          <a:lstStyle/>
          <a:p>
            <a:r>
              <a:rPr lang="zh-CN" altLang="en-US" sz="3200" dirty="0"/>
              <a:t>项目架构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7610475" y="4640170"/>
            <a:ext cx="2771775" cy="2219326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610475" y="2307167"/>
            <a:ext cx="2771775" cy="2219326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610475" y="0"/>
            <a:ext cx="2771775" cy="2219326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8570001" y="663642"/>
            <a:ext cx="852721" cy="850766"/>
            <a:chOff x="3272771" y="4374377"/>
            <a:chExt cx="472326" cy="471243"/>
          </a:xfrm>
        </p:grpSpPr>
        <p:sp>
          <p:nvSpPr>
            <p:cNvPr id="5" name="Oval 75"/>
            <p:cNvSpPr>
              <a:spLocks noChangeArrowheads="1"/>
            </p:cNvSpPr>
            <p:nvPr/>
          </p:nvSpPr>
          <p:spPr bwMode="auto">
            <a:xfrm>
              <a:off x="3478602" y="4476209"/>
              <a:ext cx="61749" cy="61749"/>
            </a:xfrm>
            <a:prstGeom prst="ellips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6"/>
            <p:cNvSpPr/>
            <p:nvPr/>
          </p:nvSpPr>
          <p:spPr bwMode="auto">
            <a:xfrm>
              <a:off x="3396270" y="4394960"/>
              <a:ext cx="225330" cy="307662"/>
            </a:xfrm>
            <a:custGeom>
              <a:avLst/>
              <a:gdLst>
                <a:gd name="T0" fmla="*/ 63 w 88"/>
                <a:gd name="T1" fmla="*/ 84 h 120"/>
                <a:gd name="T2" fmla="*/ 44 w 88"/>
                <a:gd name="T3" fmla="*/ 120 h 120"/>
                <a:gd name="T4" fmla="*/ 26 w 88"/>
                <a:gd name="T5" fmla="*/ 84 h 120"/>
                <a:gd name="T6" fmla="*/ 0 w 88"/>
                <a:gd name="T7" fmla="*/ 44 h 120"/>
                <a:gd name="T8" fmla="*/ 44 w 88"/>
                <a:gd name="T9" fmla="*/ 0 h 120"/>
                <a:gd name="T10" fmla="*/ 88 w 88"/>
                <a:gd name="T11" fmla="*/ 44 h 120"/>
                <a:gd name="T12" fmla="*/ 63 w 88"/>
                <a:gd name="T13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20">
                  <a:moveTo>
                    <a:pt x="63" y="84"/>
                  </a:moveTo>
                  <a:cubicBezTo>
                    <a:pt x="44" y="120"/>
                    <a:pt x="44" y="120"/>
                    <a:pt x="44" y="120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11" y="77"/>
                    <a:pt x="0" y="61"/>
                    <a:pt x="0" y="44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68" y="0"/>
                    <a:pt x="88" y="20"/>
                    <a:pt x="88" y="44"/>
                  </a:cubicBezTo>
                  <a:cubicBezTo>
                    <a:pt x="88" y="61"/>
                    <a:pt x="78" y="77"/>
                    <a:pt x="63" y="84"/>
                  </a:cubicBezTo>
                  <a:close/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Line 77"/>
            <p:cNvSpPr>
              <a:spLocks noChangeShapeType="1"/>
            </p:cNvSpPr>
            <p:nvPr/>
          </p:nvSpPr>
          <p:spPr bwMode="auto">
            <a:xfrm>
              <a:off x="3437436" y="4374377"/>
              <a:ext cx="0" cy="0"/>
            </a:xfrm>
            <a:prstGeom prst="lin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8"/>
            <p:cNvSpPr/>
            <p:nvPr/>
          </p:nvSpPr>
          <p:spPr bwMode="auto">
            <a:xfrm>
              <a:off x="3272771" y="4374377"/>
              <a:ext cx="472326" cy="471243"/>
            </a:xfrm>
            <a:custGeom>
              <a:avLst/>
              <a:gdLst>
                <a:gd name="T0" fmla="*/ 152 w 436"/>
                <a:gd name="T1" fmla="*/ 0 h 435"/>
                <a:gd name="T2" fmla="*/ 0 w 436"/>
                <a:gd name="T3" fmla="*/ 38 h 435"/>
                <a:gd name="T4" fmla="*/ 0 w 436"/>
                <a:gd name="T5" fmla="*/ 397 h 435"/>
                <a:gd name="T6" fmla="*/ 152 w 436"/>
                <a:gd name="T7" fmla="*/ 359 h 435"/>
                <a:gd name="T8" fmla="*/ 284 w 436"/>
                <a:gd name="T9" fmla="*/ 435 h 435"/>
                <a:gd name="T10" fmla="*/ 436 w 436"/>
                <a:gd name="T11" fmla="*/ 397 h 435"/>
                <a:gd name="T12" fmla="*/ 436 w 436"/>
                <a:gd name="T13" fmla="*/ 38 h 435"/>
                <a:gd name="T14" fmla="*/ 308 w 436"/>
                <a:gd name="T15" fmla="*/ 68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6" h="435">
                  <a:moveTo>
                    <a:pt x="152" y="0"/>
                  </a:moveTo>
                  <a:lnTo>
                    <a:pt x="0" y="38"/>
                  </a:lnTo>
                  <a:lnTo>
                    <a:pt x="0" y="397"/>
                  </a:lnTo>
                  <a:lnTo>
                    <a:pt x="152" y="359"/>
                  </a:lnTo>
                  <a:lnTo>
                    <a:pt x="284" y="435"/>
                  </a:lnTo>
                  <a:lnTo>
                    <a:pt x="436" y="397"/>
                  </a:lnTo>
                  <a:lnTo>
                    <a:pt x="436" y="38"/>
                  </a:lnTo>
                  <a:lnTo>
                    <a:pt x="308" y="68"/>
                  </a:lnTo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Line 79"/>
            <p:cNvSpPr>
              <a:spLocks noChangeShapeType="1"/>
            </p:cNvSpPr>
            <p:nvPr/>
          </p:nvSpPr>
          <p:spPr bwMode="auto">
            <a:xfrm flipV="1">
              <a:off x="3580434" y="4594290"/>
              <a:ext cx="0" cy="251330"/>
            </a:xfrm>
            <a:prstGeom prst="lin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Line 80"/>
            <p:cNvSpPr>
              <a:spLocks noChangeShapeType="1"/>
            </p:cNvSpPr>
            <p:nvPr/>
          </p:nvSpPr>
          <p:spPr bwMode="auto">
            <a:xfrm flipV="1">
              <a:off x="3437436" y="4374377"/>
              <a:ext cx="0" cy="45499"/>
            </a:xfrm>
            <a:prstGeom prst="lin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81"/>
            <p:cNvSpPr>
              <a:spLocks noChangeShapeType="1"/>
            </p:cNvSpPr>
            <p:nvPr/>
          </p:nvSpPr>
          <p:spPr bwMode="auto">
            <a:xfrm flipV="1">
              <a:off x="3437436" y="4594290"/>
              <a:ext cx="0" cy="168998"/>
            </a:xfrm>
            <a:prstGeom prst="lin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Line 82"/>
            <p:cNvSpPr>
              <a:spLocks noChangeShapeType="1"/>
            </p:cNvSpPr>
            <p:nvPr/>
          </p:nvSpPr>
          <p:spPr bwMode="auto">
            <a:xfrm flipH="1" flipV="1">
              <a:off x="3437436" y="4374377"/>
              <a:ext cx="43333" cy="22750"/>
            </a:xfrm>
            <a:prstGeom prst="lin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551824" y="3008223"/>
            <a:ext cx="889074" cy="887035"/>
            <a:chOff x="852640" y="4374377"/>
            <a:chExt cx="472326" cy="471243"/>
          </a:xfrm>
        </p:grpSpPr>
        <p:sp>
          <p:nvSpPr>
            <p:cNvPr id="14" name="Oval 69"/>
            <p:cNvSpPr>
              <a:spLocks noChangeArrowheads="1"/>
            </p:cNvSpPr>
            <p:nvPr/>
          </p:nvSpPr>
          <p:spPr bwMode="auto">
            <a:xfrm>
              <a:off x="852640" y="4374377"/>
              <a:ext cx="472326" cy="471243"/>
            </a:xfrm>
            <a:prstGeom prst="ellips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0"/>
            <p:cNvSpPr/>
            <p:nvPr/>
          </p:nvSpPr>
          <p:spPr bwMode="auto">
            <a:xfrm>
              <a:off x="955555" y="4517375"/>
              <a:ext cx="225330" cy="225330"/>
            </a:xfrm>
            <a:custGeom>
              <a:avLst/>
              <a:gdLst>
                <a:gd name="T0" fmla="*/ 139 w 208"/>
                <a:gd name="T1" fmla="*/ 208 h 208"/>
                <a:gd name="T2" fmla="*/ 104 w 208"/>
                <a:gd name="T3" fmla="*/ 104 h 208"/>
                <a:gd name="T4" fmla="*/ 0 w 208"/>
                <a:gd name="T5" fmla="*/ 69 h 208"/>
                <a:gd name="T6" fmla="*/ 208 w 208"/>
                <a:gd name="T7" fmla="*/ 0 h 208"/>
                <a:gd name="T8" fmla="*/ 139 w 208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08">
                  <a:moveTo>
                    <a:pt x="139" y="208"/>
                  </a:moveTo>
                  <a:lnTo>
                    <a:pt x="104" y="104"/>
                  </a:lnTo>
                  <a:lnTo>
                    <a:pt x="0" y="69"/>
                  </a:lnTo>
                  <a:lnTo>
                    <a:pt x="208" y="0"/>
                  </a:lnTo>
                  <a:lnTo>
                    <a:pt x="139" y="208"/>
                  </a:lnTo>
                  <a:close/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586445" y="5339916"/>
            <a:ext cx="819831" cy="819833"/>
            <a:chOff x="2062706" y="5583359"/>
            <a:chExt cx="472326" cy="472327"/>
          </a:xfrm>
        </p:grpSpPr>
        <p:sp>
          <p:nvSpPr>
            <p:cNvPr id="16" name="Freeform 96"/>
            <p:cNvSpPr/>
            <p:nvPr/>
          </p:nvSpPr>
          <p:spPr bwMode="auto">
            <a:xfrm>
              <a:off x="2268536" y="5583359"/>
              <a:ext cx="60666" cy="51999"/>
            </a:xfrm>
            <a:custGeom>
              <a:avLst/>
              <a:gdLst>
                <a:gd name="T0" fmla="*/ 24 w 24"/>
                <a:gd name="T1" fmla="*/ 20 h 20"/>
                <a:gd name="T2" fmla="*/ 24 w 24"/>
                <a:gd name="T3" fmla="*/ 12 h 20"/>
                <a:gd name="T4" fmla="*/ 12 w 24"/>
                <a:gd name="T5" fmla="*/ 0 h 20"/>
                <a:gd name="T6" fmla="*/ 0 w 24"/>
                <a:gd name="T7" fmla="*/ 12 h 20"/>
                <a:gd name="T8" fmla="*/ 0 w 2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0">
                  <a:moveTo>
                    <a:pt x="24" y="20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20"/>
                    <a:pt x="0" y="20"/>
                    <a:pt x="0" y="20"/>
                  </a:cubicBezTo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97"/>
            <p:cNvSpPr>
              <a:spLocks noChangeShapeType="1"/>
            </p:cNvSpPr>
            <p:nvPr/>
          </p:nvSpPr>
          <p:spPr bwMode="auto">
            <a:xfrm>
              <a:off x="2268536" y="5748024"/>
              <a:ext cx="0" cy="41166"/>
            </a:xfrm>
            <a:prstGeom prst="lin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98"/>
            <p:cNvSpPr>
              <a:spLocks noChangeShapeType="1"/>
            </p:cNvSpPr>
            <p:nvPr/>
          </p:nvSpPr>
          <p:spPr bwMode="auto">
            <a:xfrm flipV="1">
              <a:off x="2329202" y="5748024"/>
              <a:ext cx="0" cy="41166"/>
            </a:xfrm>
            <a:prstGeom prst="lin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99"/>
            <p:cNvSpPr/>
            <p:nvPr/>
          </p:nvSpPr>
          <p:spPr bwMode="auto">
            <a:xfrm>
              <a:off x="2268536" y="5891022"/>
              <a:ext cx="60666" cy="164664"/>
            </a:xfrm>
            <a:custGeom>
              <a:avLst/>
              <a:gdLst>
                <a:gd name="T0" fmla="*/ 0 w 56"/>
                <a:gd name="T1" fmla="*/ 0 h 152"/>
                <a:gd name="T2" fmla="*/ 0 w 56"/>
                <a:gd name="T3" fmla="*/ 152 h 152"/>
                <a:gd name="T4" fmla="*/ 56 w 56"/>
                <a:gd name="T5" fmla="*/ 152 h 152"/>
                <a:gd name="T6" fmla="*/ 56 w 56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152">
                  <a:moveTo>
                    <a:pt x="0" y="0"/>
                  </a:moveTo>
                  <a:lnTo>
                    <a:pt x="0" y="152"/>
                  </a:lnTo>
                  <a:lnTo>
                    <a:pt x="56" y="152"/>
                  </a:lnTo>
                  <a:lnTo>
                    <a:pt x="56" y="0"/>
                  </a:lnTo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00"/>
            <p:cNvSpPr/>
            <p:nvPr/>
          </p:nvSpPr>
          <p:spPr bwMode="auto">
            <a:xfrm>
              <a:off x="2103872" y="5645108"/>
              <a:ext cx="431160" cy="102915"/>
            </a:xfrm>
            <a:custGeom>
              <a:avLst/>
              <a:gdLst>
                <a:gd name="T0" fmla="*/ 327 w 398"/>
                <a:gd name="T1" fmla="*/ 95 h 95"/>
                <a:gd name="T2" fmla="*/ 0 w 398"/>
                <a:gd name="T3" fmla="*/ 95 h 95"/>
                <a:gd name="T4" fmla="*/ 19 w 398"/>
                <a:gd name="T5" fmla="*/ 47 h 95"/>
                <a:gd name="T6" fmla="*/ 0 w 398"/>
                <a:gd name="T7" fmla="*/ 0 h 95"/>
                <a:gd name="T8" fmla="*/ 327 w 398"/>
                <a:gd name="T9" fmla="*/ 0 h 95"/>
                <a:gd name="T10" fmla="*/ 398 w 398"/>
                <a:gd name="T11" fmla="*/ 47 h 95"/>
                <a:gd name="T12" fmla="*/ 327 w 398"/>
                <a:gd name="T1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8" h="95">
                  <a:moveTo>
                    <a:pt x="327" y="95"/>
                  </a:moveTo>
                  <a:lnTo>
                    <a:pt x="0" y="95"/>
                  </a:lnTo>
                  <a:lnTo>
                    <a:pt x="19" y="47"/>
                  </a:lnTo>
                  <a:lnTo>
                    <a:pt x="0" y="0"/>
                  </a:lnTo>
                  <a:lnTo>
                    <a:pt x="327" y="0"/>
                  </a:lnTo>
                  <a:lnTo>
                    <a:pt x="398" y="47"/>
                  </a:lnTo>
                  <a:lnTo>
                    <a:pt x="327" y="95"/>
                  </a:lnTo>
                  <a:close/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01"/>
            <p:cNvSpPr/>
            <p:nvPr/>
          </p:nvSpPr>
          <p:spPr bwMode="auto">
            <a:xfrm>
              <a:off x="2062706" y="5789190"/>
              <a:ext cx="431160" cy="101832"/>
            </a:xfrm>
            <a:custGeom>
              <a:avLst/>
              <a:gdLst>
                <a:gd name="T0" fmla="*/ 71 w 398"/>
                <a:gd name="T1" fmla="*/ 0 h 94"/>
                <a:gd name="T2" fmla="*/ 398 w 398"/>
                <a:gd name="T3" fmla="*/ 0 h 94"/>
                <a:gd name="T4" fmla="*/ 379 w 398"/>
                <a:gd name="T5" fmla="*/ 47 h 94"/>
                <a:gd name="T6" fmla="*/ 398 w 398"/>
                <a:gd name="T7" fmla="*/ 94 h 94"/>
                <a:gd name="T8" fmla="*/ 71 w 398"/>
                <a:gd name="T9" fmla="*/ 94 h 94"/>
                <a:gd name="T10" fmla="*/ 0 w 398"/>
                <a:gd name="T11" fmla="*/ 47 h 94"/>
                <a:gd name="T12" fmla="*/ 71 w 398"/>
                <a:gd name="T1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8" h="94">
                  <a:moveTo>
                    <a:pt x="71" y="0"/>
                  </a:moveTo>
                  <a:lnTo>
                    <a:pt x="398" y="0"/>
                  </a:lnTo>
                  <a:lnTo>
                    <a:pt x="379" y="47"/>
                  </a:lnTo>
                  <a:lnTo>
                    <a:pt x="398" y="94"/>
                  </a:lnTo>
                  <a:lnTo>
                    <a:pt x="71" y="94"/>
                  </a:lnTo>
                  <a:lnTo>
                    <a:pt x="0" y="47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" name="矩形 28"/>
          <p:cNvSpPr/>
          <p:nvPr/>
        </p:nvSpPr>
        <p:spPr>
          <a:xfrm>
            <a:off x="314211" y="247985"/>
            <a:ext cx="460773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流程图</a:t>
            </a:r>
          </a:p>
        </p:txBody>
      </p:sp>
      <p:sp>
        <p:nvSpPr>
          <p:cNvPr id="31" name="矩形 30"/>
          <p:cNvSpPr/>
          <p:nvPr/>
        </p:nvSpPr>
        <p:spPr>
          <a:xfrm>
            <a:off x="10462571" y="0"/>
            <a:ext cx="125170" cy="2219326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0462571" y="2307167"/>
            <a:ext cx="125170" cy="2219326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462571" y="4640170"/>
            <a:ext cx="125170" cy="2219326"/>
          </a:xfrm>
          <a:prstGeom prst="rect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可选过程 41"/>
          <p:cNvSpPr/>
          <p:nvPr/>
        </p:nvSpPr>
        <p:spPr>
          <a:xfrm>
            <a:off x="3481070" y="183037"/>
            <a:ext cx="1041400" cy="54102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开始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F8BC486-C3BE-4E75-A045-22B4D688BE58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4001770" y="724057"/>
            <a:ext cx="2059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73D919ED-0619-4A2D-8CFB-794BCAE5D2FB}"/>
              </a:ext>
            </a:extLst>
          </p:cNvPr>
          <p:cNvSpPr/>
          <p:nvPr/>
        </p:nvSpPr>
        <p:spPr>
          <a:xfrm>
            <a:off x="3364637" y="986735"/>
            <a:ext cx="1272207" cy="428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登录系统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06EE3B3-D220-458F-BE1D-303FFA4BABAF}"/>
              </a:ext>
            </a:extLst>
          </p:cNvPr>
          <p:cNvCxnSpPr>
            <a:stCxn id="24" idx="2"/>
          </p:cNvCxnSpPr>
          <p:nvPr/>
        </p:nvCxnSpPr>
        <p:spPr>
          <a:xfrm>
            <a:off x="4000741" y="1414787"/>
            <a:ext cx="1029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图: 决策 29">
            <a:extLst>
              <a:ext uri="{FF2B5EF4-FFF2-40B4-BE49-F238E27FC236}">
                <a16:creationId xmlns:a16="http://schemas.microsoft.com/office/drawing/2014/main" id="{13CF583B-9993-4C49-97B4-E430B1F7D4AC}"/>
              </a:ext>
            </a:extLst>
          </p:cNvPr>
          <p:cNvSpPr/>
          <p:nvPr/>
        </p:nvSpPr>
        <p:spPr>
          <a:xfrm>
            <a:off x="2786231" y="1705765"/>
            <a:ext cx="2428251" cy="55308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登录是否成功</a:t>
            </a:r>
          </a:p>
        </p:txBody>
      </p:sp>
      <p:sp>
        <p:nvSpPr>
          <p:cNvPr id="34" name="流程图: 可选过程 33">
            <a:extLst>
              <a:ext uri="{FF2B5EF4-FFF2-40B4-BE49-F238E27FC236}">
                <a16:creationId xmlns:a16="http://schemas.microsoft.com/office/drawing/2014/main" id="{C20D1B1A-E296-44FD-A98E-DC7A27F0A5FC}"/>
              </a:ext>
            </a:extLst>
          </p:cNvPr>
          <p:cNvSpPr/>
          <p:nvPr/>
        </p:nvSpPr>
        <p:spPr>
          <a:xfrm>
            <a:off x="3489654" y="6143306"/>
            <a:ext cx="1021404" cy="51521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B937965-C310-4BE3-A6F9-F386668E4AF8}"/>
              </a:ext>
            </a:extLst>
          </p:cNvPr>
          <p:cNvCxnSpPr>
            <a:stCxn id="30" idx="2"/>
          </p:cNvCxnSpPr>
          <p:nvPr/>
        </p:nvCxnSpPr>
        <p:spPr>
          <a:xfrm flipH="1">
            <a:off x="4000356" y="2258850"/>
            <a:ext cx="1" cy="289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E2BC698-5E83-4D88-B1C2-19D56B39BE1B}"/>
              </a:ext>
            </a:extLst>
          </p:cNvPr>
          <p:cNvSpPr txBox="1"/>
          <p:nvPr/>
        </p:nvSpPr>
        <p:spPr>
          <a:xfrm>
            <a:off x="4000356" y="2192814"/>
            <a:ext cx="33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是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19FA28C8-517D-49C8-B067-A0738BBFCC3B}"/>
              </a:ext>
            </a:extLst>
          </p:cNvPr>
          <p:cNvCxnSpPr>
            <a:stCxn id="30" idx="3"/>
            <a:endCxn id="34" idx="3"/>
          </p:cNvCxnSpPr>
          <p:nvPr/>
        </p:nvCxnSpPr>
        <p:spPr>
          <a:xfrm flipH="1">
            <a:off x="4511058" y="1982308"/>
            <a:ext cx="703424" cy="4418605"/>
          </a:xfrm>
          <a:prstGeom prst="bentConnector3">
            <a:avLst>
              <a:gd name="adj1" fmla="val -3021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04846AA-0C0F-4070-A78E-9C148689755F}"/>
              </a:ext>
            </a:extLst>
          </p:cNvPr>
          <p:cNvSpPr txBox="1"/>
          <p:nvPr/>
        </p:nvSpPr>
        <p:spPr>
          <a:xfrm>
            <a:off x="5085452" y="1659371"/>
            <a:ext cx="33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否</a:t>
            </a:r>
          </a:p>
        </p:txBody>
      </p:sp>
      <p:sp>
        <p:nvSpPr>
          <p:cNvPr id="40" name="流程图: 决策 39">
            <a:extLst>
              <a:ext uri="{FF2B5EF4-FFF2-40B4-BE49-F238E27FC236}">
                <a16:creationId xmlns:a16="http://schemas.microsoft.com/office/drawing/2014/main" id="{19371080-F286-4BB0-BE20-852161393D6F}"/>
              </a:ext>
            </a:extLst>
          </p:cNvPr>
          <p:cNvSpPr/>
          <p:nvPr/>
        </p:nvSpPr>
        <p:spPr>
          <a:xfrm>
            <a:off x="2918298" y="2609046"/>
            <a:ext cx="2167146" cy="66834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是管理员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1320A91-F46E-4736-A635-84205C0E180A}"/>
              </a:ext>
            </a:extLst>
          </p:cNvPr>
          <p:cNvCxnSpPr>
            <a:stCxn id="40" idx="2"/>
          </p:cNvCxnSpPr>
          <p:nvPr/>
        </p:nvCxnSpPr>
        <p:spPr>
          <a:xfrm flipH="1">
            <a:off x="4000356" y="3277392"/>
            <a:ext cx="1515" cy="424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600160B-97EF-4998-8EF4-A38E9A7FC6B3}"/>
              </a:ext>
            </a:extLst>
          </p:cNvPr>
          <p:cNvSpPr txBox="1"/>
          <p:nvPr/>
        </p:nvSpPr>
        <p:spPr>
          <a:xfrm>
            <a:off x="3963729" y="3289762"/>
            <a:ext cx="33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是</a:t>
            </a:r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05F4A587-6A58-45AC-8DC8-1A5D2DC67C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15066" y="2943216"/>
            <a:ext cx="807783" cy="369335"/>
          </a:xfrm>
          <a:prstGeom prst="bentConnector3">
            <a:avLst>
              <a:gd name="adj1" fmla="val 1005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E4DFEC5-0DB4-4A1F-8787-E4F0C3E20487}"/>
              </a:ext>
            </a:extLst>
          </p:cNvPr>
          <p:cNvSpPr txBox="1"/>
          <p:nvPr/>
        </p:nvSpPr>
        <p:spPr>
          <a:xfrm>
            <a:off x="2587562" y="2573886"/>
            <a:ext cx="33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否</a:t>
            </a:r>
          </a:p>
        </p:txBody>
      </p:sp>
      <p:sp>
        <p:nvSpPr>
          <p:cNvPr id="59" name="流程图: 决策 58">
            <a:extLst>
              <a:ext uri="{FF2B5EF4-FFF2-40B4-BE49-F238E27FC236}">
                <a16:creationId xmlns:a16="http://schemas.microsoft.com/office/drawing/2014/main" id="{2E12E2DD-09E9-47CA-9893-208A51847A34}"/>
              </a:ext>
            </a:extLst>
          </p:cNvPr>
          <p:cNvSpPr/>
          <p:nvPr/>
        </p:nvSpPr>
        <p:spPr>
          <a:xfrm>
            <a:off x="1377022" y="3286677"/>
            <a:ext cx="1452587" cy="70315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是教师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FE1F9B6C-6039-448D-8B40-06EFE77B0894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2101679" y="3989834"/>
            <a:ext cx="1637" cy="357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CBB1B38-0F2C-432C-852D-F4040B6A68F4}"/>
              </a:ext>
            </a:extLst>
          </p:cNvPr>
          <p:cNvSpPr txBox="1"/>
          <p:nvPr/>
        </p:nvSpPr>
        <p:spPr>
          <a:xfrm>
            <a:off x="2154541" y="3926269"/>
            <a:ext cx="33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是</a:t>
            </a:r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ECBF10CF-C0C4-444E-A2D8-89A560590201}"/>
              </a:ext>
            </a:extLst>
          </p:cNvPr>
          <p:cNvCxnSpPr>
            <a:cxnSpLocks/>
            <a:endCxn id="65" idx="0"/>
          </p:cNvCxnSpPr>
          <p:nvPr/>
        </p:nvCxnSpPr>
        <p:spPr>
          <a:xfrm rot="5400000">
            <a:off x="665771" y="4101233"/>
            <a:ext cx="1153390" cy="269112"/>
          </a:xfrm>
          <a:prstGeom prst="bentConnector3">
            <a:avLst>
              <a:gd name="adj1" fmla="val -6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流程图: 决策 64">
            <a:extLst>
              <a:ext uri="{FF2B5EF4-FFF2-40B4-BE49-F238E27FC236}">
                <a16:creationId xmlns:a16="http://schemas.microsoft.com/office/drawing/2014/main" id="{F69029E0-254C-44B9-B044-7E628134CBBE}"/>
              </a:ext>
            </a:extLst>
          </p:cNvPr>
          <p:cNvSpPr/>
          <p:nvPr/>
        </p:nvSpPr>
        <p:spPr>
          <a:xfrm>
            <a:off x="314211" y="4812484"/>
            <a:ext cx="1587398" cy="55308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是供应商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3F1F3D4-411C-45EC-B702-7B58EB203582}"/>
              </a:ext>
            </a:extLst>
          </p:cNvPr>
          <p:cNvCxnSpPr>
            <a:cxnSpLocks/>
          </p:cNvCxnSpPr>
          <p:nvPr/>
        </p:nvCxnSpPr>
        <p:spPr>
          <a:xfrm>
            <a:off x="1103358" y="5330983"/>
            <a:ext cx="0" cy="36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B8A174FA-1610-4D31-B8A0-EA4825E1823E}"/>
              </a:ext>
            </a:extLst>
          </p:cNvPr>
          <p:cNvSpPr txBox="1"/>
          <p:nvPr/>
        </p:nvSpPr>
        <p:spPr>
          <a:xfrm>
            <a:off x="1103358" y="3332205"/>
            <a:ext cx="33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否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1251D8F-4D4F-41B0-AC33-AC215A1E40FA}"/>
              </a:ext>
            </a:extLst>
          </p:cNvPr>
          <p:cNvSpPr txBox="1"/>
          <p:nvPr/>
        </p:nvSpPr>
        <p:spPr>
          <a:xfrm>
            <a:off x="1115672" y="5365568"/>
            <a:ext cx="40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是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7851E0B-09F8-4A77-B3A5-D607CF7280B5}"/>
              </a:ext>
            </a:extLst>
          </p:cNvPr>
          <p:cNvSpPr/>
          <p:nvPr/>
        </p:nvSpPr>
        <p:spPr>
          <a:xfrm>
            <a:off x="3364637" y="3701537"/>
            <a:ext cx="1260458" cy="1123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用户、角色、学院管理、秘书审核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87ADF4E-0870-46A4-AE60-7D3968B5E05F}"/>
              </a:ext>
            </a:extLst>
          </p:cNvPr>
          <p:cNvSpPr/>
          <p:nvPr/>
        </p:nvSpPr>
        <p:spPr>
          <a:xfrm>
            <a:off x="1498364" y="4359166"/>
            <a:ext cx="1260458" cy="465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下订单、成绩录入</a:t>
            </a: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7B65A997-C04A-47E8-8362-CFB98B915AAC}"/>
              </a:ext>
            </a:extLst>
          </p:cNvPr>
          <p:cNvCxnSpPr>
            <a:stCxn id="73" idx="2"/>
            <a:endCxn id="34" idx="0"/>
          </p:cNvCxnSpPr>
          <p:nvPr/>
        </p:nvCxnSpPr>
        <p:spPr>
          <a:xfrm>
            <a:off x="3994866" y="4824919"/>
            <a:ext cx="5490" cy="1318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165E0D3E-A126-4A5C-8E02-4FBE9D4DFA8F}"/>
              </a:ext>
            </a:extLst>
          </p:cNvPr>
          <p:cNvSpPr/>
          <p:nvPr/>
        </p:nvSpPr>
        <p:spPr>
          <a:xfrm>
            <a:off x="411942" y="5697183"/>
            <a:ext cx="1397808" cy="446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采购单管理</a:t>
            </a:r>
          </a:p>
        </p:txBody>
      </p: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B292DCA2-547D-4683-A21D-3BE6D6B5AEBF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1901609" y="5089026"/>
            <a:ext cx="926577" cy="341146"/>
          </a:xfrm>
          <a:prstGeom prst="bentConnector3">
            <a:avLst>
              <a:gd name="adj1" fmla="val 993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0B2B1DF9-B0B8-4C6D-98E8-D1414C012BC7}"/>
              </a:ext>
            </a:extLst>
          </p:cNvPr>
          <p:cNvSpPr/>
          <p:nvPr/>
        </p:nvSpPr>
        <p:spPr>
          <a:xfrm>
            <a:off x="2305455" y="5430172"/>
            <a:ext cx="977530" cy="4437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选课管理</a:t>
            </a: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7A695F4E-A565-4943-A270-85250C873A72}"/>
              </a:ext>
            </a:extLst>
          </p:cNvPr>
          <p:cNvCxnSpPr>
            <a:stCxn id="88" idx="2"/>
            <a:endCxn id="34" idx="1"/>
          </p:cNvCxnSpPr>
          <p:nvPr/>
        </p:nvCxnSpPr>
        <p:spPr>
          <a:xfrm rot="16200000" flipH="1">
            <a:off x="2171447" y="5082705"/>
            <a:ext cx="257607" cy="23788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B4256BBF-9C86-47D2-A9BB-A28A3E40BEB6}"/>
              </a:ext>
            </a:extLst>
          </p:cNvPr>
          <p:cNvCxnSpPr>
            <a:stCxn id="99" idx="2"/>
            <a:endCxn id="34" idx="0"/>
          </p:cNvCxnSpPr>
          <p:nvPr/>
        </p:nvCxnSpPr>
        <p:spPr>
          <a:xfrm rot="16200000" flipH="1">
            <a:off x="3262603" y="5405553"/>
            <a:ext cx="269370" cy="12061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78F1DC68-C880-4DBE-B87F-3989C3B736A7}"/>
              </a:ext>
            </a:extLst>
          </p:cNvPr>
          <p:cNvCxnSpPr>
            <a:stCxn id="82" idx="2"/>
            <a:endCxn id="34" idx="1"/>
          </p:cNvCxnSpPr>
          <p:nvPr/>
        </p:nvCxnSpPr>
        <p:spPr>
          <a:xfrm rot="16200000" flipH="1">
            <a:off x="2021126" y="4932385"/>
            <a:ext cx="1575994" cy="1361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7E806DE-8E3B-4A55-A29C-F437900A4834}"/>
              </a:ext>
            </a:extLst>
          </p:cNvPr>
          <p:cNvSpPr txBox="1"/>
          <p:nvPr/>
        </p:nvSpPr>
        <p:spPr>
          <a:xfrm>
            <a:off x="1741664" y="5048724"/>
            <a:ext cx="33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否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/>
          <p:cNvSpPr/>
          <p:nvPr/>
        </p:nvSpPr>
        <p:spPr>
          <a:xfrm rot="5400000">
            <a:off x="11468691" y="-4573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直角三角形 5"/>
          <p:cNvSpPr/>
          <p:nvPr/>
        </p:nvSpPr>
        <p:spPr>
          <a:xfrm rot="16200000">
            <a:off x="10731661" y="735319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/>
        </p:nvSpPr>
        <p:spPr>
          <a:xfrm rot="10800000">
            <a:off x="11473265" y="719685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/>
        </p:nvSpPr>
        <p:spPr>
          <a:xfrm>
            <a:off x="10740809" y="1915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 rot="16200000">
            <a:off x="10020607" y="735320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/>
        </p:nvSpPr>
        <p:spPr>
          <a:xfrm rot="5400000">
            <a:off x="10022075" y="-12755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直角三角形 10"/>
          <p:cNvSpPr/>
          <p:nvPr/>
        </p:nvSpPr>
        <p:spPr>
          <a:xfrm rot="10800000">
            <a:off x="11473265" y="1458627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直角三角形 11"/>
          <p:cNvSpPr/>
          <p:nvPr/>
        </p:nvSpPr>
        <p:spPr>
          <a:xfrm>
            <a:off x="10736232" y="1438433"/>
            <a:ext cx="718735" cy="727881"/>
          </a:xfrm>
          <a:prstGeom prst="rtTriangle">
            <a:avLst/>
          </a:prstGeom>
          <a:solidFill>
            <a:srgbClr val="DAC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56299" y="240052"/>
            <a:ext cx="46077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Impact" panose="020B0806030902050204" pitchFamily="34" charset="0"/>
                <a:cs typeface="Lao UI" panose="020B0502040204020203" pitchFamily="34" charset="0"/>
              </a:rPr>
              <a:t>模块关系图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43DCB3-644D-4D77-ABB2-77375E773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668" y="909102"/>
            <a:ext cx="7548663" cy="55830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299518" y="199764"/>
            <a:ext cx="34713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Impact" panose="020B0806030902050204" pitchFamily="34" charset="0"/>
                <a:cs typeface="Lao UI" panose="020B0502040204020203" pitchFamily="34" charset="0"/>
              </a:rPr>
              <a:t>数据库结构</a:t>
            </a:r>
            <a:r>
              <a:rPr lang="en-US" altLang="zh-CN" sz="3000" dirty="0">
                <a:solidFill>
                  <a:schemeClr val="bg1"/>
                </a:solidFill>
                <a:latin typeface="Impact" panose="020B0806030902050204" pitchFamily="34" charset="0"/>
                <a:cs typeface="Lao UI" panose="020B0502040204020203" pitchFamily="34" charset="0"/>
              </a:rPr>
              <a:t> </a:t>
            </a:r>
            <a:endParaRPr lang="zh-CN" altLang="en-US" sz="3000" dirty="0">
              <a:solidFill>
                <a:schemeClr val="bg1"/>
              </a:solidFill>
              <a:latin typeface="Impact" panose="020B0806030902050204" pitchFamily="34" charset="0"/>
              <a:cs typeface="Lao UI" panose="020B0502040204020203" pitchFamily="34" charset="0"/>
            </a:endParaRPr>
          </a:p>
        </p:txBody>
      </p:sp>
      <p:pic>
        <p:nvPicPr>
          <p:cNvPr id="38" name="图片 37" descr="图片包含 文字&#10;&#10;已生成极高可信度的说明">
            <a:extLst>
              <a:ext uri="{FF2B5EF4-FFF2-40B4-BE49-F238E27FC236}">
                <a16:creationId xmlns:a16="http://schemas.microsoft.com/office/drawing/2014/main" id="{AB53936A-1D13-4E12-B704-53F73681E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170" y="753761"/>
            <a:ext cx="8073958" cy="55692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"/>
          <p:cNvSpPr/>
          <p:nvPr/>
        </p:nvSpPr>
        <p:spPr>
          <a:xfrm>
            <a:off x="4813526" y="104774"/>
            <a:ext cx="2564948" cy="2143125"/>
          </a:xfrm>
          <a:custGeom>
            <a:avLst/>
            <a:gdLst>
              <a:gd name="connsiteX0" fmla="*/ 0 w 2762250"/>
              <a:gd name="connsiteY0" fmla="*/ 0 h 2466975"/>
              <a:gd name="connsiteX1" fmla="*/ 2762250 w 2762250"/>
              <a:gd name="connsiteY1" fmla="*/ 0 h 2466975"/>
              <a:gd name="connsiteX2" fmla="*/ 2762250 w 2762250"/>
              <a:gd name="connsiteY2" fmla="*/ 2466975 h 2466975"/>
              <a:gd name="connsiteX3" fmla="*/ 0 w 2762250"/>
              <a:gd name="connsiteY3" fmla="*/ 2466975 h 2466975"/>
              <a:gd name="connsiteX4" fmla="*/ 0 w 2762250"/>
              <a:gd name="connsiteY4" fmla="*/ 0 h 2466975"/>
              <a:gd name="connsiteX0-1" fmla="*/ 0 w 2762250"/>
              <a:gd name="connsiteY0-2" fmla="*/ 0 h 2476500"/>
              <a:gd name="connsiteX1-3" fmla="*/ 2762250 w 2762250"/>
              <a:gd name="connsiteY1-4" fmla="*/ 0 h 2476500"/>
              <a:gd name="connsiteX2-5" fmla="*/ 2762250 w 2762250"/>
              <a:gd name="connsiteY2-6" fmla="*/ 2466975 h 2476500"/>
              <a:gd name="connsiteX3-7" fmla="*/ 1428750 w 2762250"/>
              <a:gd name="connsiteY3-8" fmla="*/ 2476500 h 2476500"/>
              <a:gd name="connsiteX4-9" fmla="*/ 0 w 2762250"/>
              <a:gd name="connsiteY4-10" fmla="*/ 2466975 h 2476500"/>
              <a:gd name="connsiteX5" fmla="*/ 0 w 2762250"/>
              <a:gd name="connsiteY5" fmla="*/ 0 h 2476500"/>
              <a:gd name="connsiteX0-11" fmla="*/ 0 w 2762250"/>
              <a:gd name="connsiteY0-12" fmla="*/ 0 h 2895600"/>
              <a:gd name="connsiteX1-13" fmla="*/ 2762250 w 2762250"/>
              <a:gd name="connsiteY1-14" fmla="*/ 0 h 2895600"/>
              <a:gd name="connsiteX2-15" fmla="*/ 2762250 w 2762250"/>
              <a:gd name="connsiteY2-16" fmla="*/ 2466975 h 2895600"/>
              <a:gd name="connsiteX3-17" fmla="*/ 1428750 w 2762250"/>
              <a:gd name="connsiteY3-18" fmla="*/ 2895600 h 2895600"/>
              <a:gd name="connsiteX4-19" fmla="*/ 0 w 2762250"/>
              <a:gd name="connsiteY4-20" fmla="*/ 2466975 h 2895600"/>
              <a:gd name="connsiteX5-21" fmla="*/ 0 w 2762250"/>
              <a:gd name="connsiteY5-22" fmla="*/ 0 h 2895600"/>
              <a:gd name="connsiteX0-23" fmla="*/ 0 w 2762250"/>
              <a:gd name="connsiteY0-24" fmla="*/ 0 h 2895600"/>
              <a:gd name="connsiteX1-25" fmla="*/ 2762250 w 2762250"/>
              <a:gd name="connsiteY1-26" fmla="*/ 0 h 2895600"/>
              <a:gd name="connsiteX2-27" fmla="*/ 2762250 w 2762250"/>
              <a:gd name="connsiteY2-28" fmla="*/ 2466975 h 2895600"/>
              <a:gd name="connsiteX3-29" fmla="*/ 1356946 w 2762250"/>
              <a:gd name="connsiteY3-30" fmla="*/ 2895600 h 2895600"/>
              <a:gd name="connsiteX4-31" fmla="*/ 0 w 2762250"/>
              <a:gd name="connsiteY4-32" fmla="*/ 2466975 h 2895600"/>
              <a:gd name="connsiteX5-33" fmla="*/ 0 w 2762250"/>
              <a:gd name="connsiteY5-34" fmla="*/ 0 h 2895600"/>
              <a:gd name="connsiteX0-35" fmla="*/ 0 w 2762250"/>
              <a:gd name="connsiteY0-36" fmla="*/ 0 h 2895600"/>
              <a:gd name="connsiteX1-37" fmla="*/ 2762250 w 2762250"/>
              <a:gd name="connsiteY1-38" fmla="*/ 0 h 2895600"/>
              <a:gd name="connsiteX2-39" fmla="*/ 2762250 w 2762250"/>
              <a:gd name="connsiteY2-40" fmla="*/ 2466975 h 2895600"/>
              <a:gd name="connsiteX3-41" fmla="*/ 1397977 w 2762250"/>
              <a:gd name="connsiteY3-42" fmla="*/ 2895600 h 2895600"/>
              <a:gd name="connsiteX4-43" fmla="*/ 0 w 2762250"/>
              <a:gd name="connsiteY4-44" fmla="*/ 2466975 h 2895600"/>
              <a:gd name="connsiteX5-45" fmla="*/ 0 w 2762250"/>
              <a:gd name="connsiteY5-46" fmla="*/ 0 h 2895600"/>
              <a:gd name="connsiteX0-47" fmla="*/ 0 w 2762250"/>
              <a:gd name="connsiteY0-48" fmla="*/ 0 h 2895600"/>
              <a:gd name="connsiteX1-49" fmla="*/ 2762250 w 2762250"/>
              <a:gd name="connsiteY1-50" fmla="*/ 0 h 2895600"/>
              <a:gd name="connsiteX2-51" fmla="*/ 2762250 w 2762250"/>
              <a:gd name="connsiteY2-52" fmla="*/ 2466975 h 2895600"/>
              <a:gd name="connsiteX3-53" fmla="*/ 1377461 w 2762250"/>
              <a:gd name="connsiteY3-54" fmla="*/ 2895600 h 2895600"/>
              <a:gd name="connsiteX4-55" fmla="*/ 0 w 2762250"/>
              <a:gd name="connsiteY4-56" fmla="*/ 2466975 h 2895600"/>
              <a:gd name="connsiteX5-57" fmla="*/ 0 w 2762250"/>
              <a:gd name="connsiteY5-58" fmla="*/ 0 h 2895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762250" h="2895600">
                <a:moveTo>
                  <a:pt x="0" y="0"/>
                </a:moveTo>
                <a:lnTo>
                  <a:pt x="2762250" y="0"/>
                </a:lnTo>
                <a:lnTo>
                  <a:pt x="2762250" y="2466975"/>
                </a:lnTo>
                <a:lnTo>
                  <a:pt x="1377461" y="2895600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5130" y="539115"/>
            <a:ext cx="1188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7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2784763" y="4006800"/>
            <a:ext cx="6710400" cy="583200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项目应用技术</a:t>
            </a:r>
            <a:endParaRPr lang="zh-CN" alt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960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26C3DD-FE07-451E-94B9-0723453E31D1}"/>
              </a:ext>
            </a:extLst>
          </p:cNvPr>
          <p:cNvSpPr txBox="1"/>
          <p:nvPr/>
        </p:nvSpPr>
        <p:spPr>
          <a:xfrm>
            <a:off x="2461098" y="1605064"/>
            <a:ext cx="2052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Spring MVC ： 拥有控制器，作用跟Struts类似，接收外部请求，解析参数传给服务层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1787A3-C538-4AB5-923F-A45082E3EE28}"/>
              </a:ext>
            </a:extLst>
          </p:cNvPr>
          <p:cNvSpPr txBox="1"/>
          <p:nvPr/>
        </p:nvSpPr>
        <p:spPr>
          <a:xfrm>
            <a:off x="4773038" y="1605064"/>
            <a:ext cx="2052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Spring ：容器属于协调上下文，管理对象间的依赖，提供事务机制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97E9CA-6628-4F5A-B37A-C8AAD0A6AB91}"/>
              </a:ext>
            </a:extLst>
          </p:cNvPr>
          <p:cNvSpPr txBox="1"/>
          <p:nvPr/>
        </p:nvSpPr>
        <p:spPr>
          <a:xfrm>
            <a:off x="7084978" y="1605063"/>
            <a:ext cx="2052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M</a:t>
            </a:r>
            <a:r>
              <a:rPr lang="zh-CN" altLang="en-US" dirty="0">
                <a:solidFill>
                  <a:schemeClr val="bg1"/>
                </a:solidFill>
              </a:rPr>
              <a:t>ybatis ：属于orm持久层框架，将业务实体与数据表联合起来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E83CF07-7E2E-45F1-843B-44530EAF1E23}"/>
              </a:ext>
            </a:extLst>
          </p:cNvPr>
          <p:cNvSpPr txBox="1"/>
          <p:nvPr/>
        </p:nvSpPr>
        <p:spPr>
          <a:xfrm>
            <a:off x="2461098" y="3452443"/>
            <a:ext cx="2052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Shiro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Java</a:t>
            </a:r>
            <a:r>
              <a:rPr lang="zh-CN" altLang="en-US" dirty="0">
                <a:solidFill>
                  <a:schemeClr val="bg1"/>
                </a:solidFill>
              </a:rPr>
              <a:t>安全框架</a:t>
            </a:r>
            <a:r>
              <a:rPr lang="en-US" altLang="zh-CN" dirty="0">
                <a:solidFill>
                  <a:schemeClr val="bg1"/>
                </a:solidFill>
              </a:rPr>
              <a:t>,</a:t>
            </a:r>
            <a:r>
              <a:rPr lang="zh-CN" altLang="en-US" dirty="0">
                <a:solidFill>
                  <a:schemeClr val="bg1"/>
                </a:solidFill>
              </a:rPr>
              <a:t>执行身份验证、授权、密码学和会话管理。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C5F3CE-9CC7-4D3A-83DB-343B70D73D46}"/>
              </a:ext>
            </a:extLst>
          </p:cNvPr>
          <p:cNvSpPr txBox="1"/>
          <p:nvPr/>
        </p:nvSpPr>
        <p:spPr>
          <a:xfrm>
            <a:off x="4773038" y="3452443"/>
            <a:ext cx="2052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dbcp2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Java</a:t>
            </a:r>
            <a:r>
              <a:rPr lang="zh-CN" altLang="en-US" dirty="0">
                <a:solidFill>
                  <a:schemeClr val="bg1"/>
                </a:solidFill>
              </a:rPr>
              <a:t>数据库连接池的一种，让程序自动管理数据库连接的释放和断开。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6C65468-CF99-41D6-B413-001C8A3EDFBB}"/>
              </a:ext>
            </a:extLst>
          </p:cNvPr>
          <p:cNvSpPr txBox="1"/>
          <p:nvPr/>
        </p:nvSpPr>
        <p:spPr>
          <a:xfrm>
            <a:off x="7084978" y="3452443"/>
            <a:ext cx="2052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Gson</a:t>
            </a:r>
            <a:r>
              <a:rPr lang="zh-CN" altLang="en-US" dirty="0">
                <a:solidFill>
                  <a:schemeClr val="bg1"/>
                </a:solidFill>
              </a:rPr>
              <a:t>： </a:t>
            </a:r>
            <a:r>
              <a:rPr lang="en-US" altLang="zh-CN" dirty="0">
                <a:solidFill>
                  <a:schemeClr val="bg1"/>
                </a:solidFill>
              </a:rPr>
              <a:t>Java</a:t>
            </a:r>
            <a:r>
              <a:rPr lang="zh-CN" altLang="en-US" dirty="0">
                <a:solidFill>
                  <a:schemeClr val="bg1"/>
                </a:solidFill>
              </a:rPr>
              <a:t>类库，用于将</a:t>
            </a:r>
            <a:r>
              <a:rPr lang="en-US" altLang="zh-CN" dirty="0">
                <a:solidFill>
                  <a:schemeClr val="bg1"/>
                </a:solidFill>
              </a:rPr>
              <a:t>Java</a:t>
            </a:r>
            <a:r>
              <a:rPr lang="zh-CN" altLang="en-US" dirty="0">
                <a:solidFill>
                  <a:schemeClr val="bg1"/>
                </a:solidFill>
              </a:rPr>
              <a:t>对象转换为它们所代表的</a:t>
            </a:r>
            <a:r>
              <a:rPr lang="en-US" altLang="zh-CN" dirty="0">
                <a:solidFill>
                  <a:schemeClr val="bg1"/>
                </a:solidFill>
              </a:rPr>
              <a:t>JSON</a:t>
            </a:r>
            <a:r>
              <a:rPr lang="zh-CN" altLang="en-US" dirty="0">
                <a:solidFill>
                  <a:schemeClr val="bg1"/>
                </a:solidFill>
              </a:rPr>
              <a:t>数据，也可以用于将一个</a:t>
            </a:r>
            <a:r>
              <a:rPr lang="en-US" altLang="zh-CN" dirty="0">
                <a:solidFill>
                  <a:schemeClr val="bg1"/>
                </a:solidFill>
              </a:rPr>
              <a:t>JSON</a:t>
            </a:r>
            <a:r>
              <a:rPr lang="zh-CN" altLang="en-US" dirty="0">
                <a:solidFill>
                  <a:schemeClr val="bg1"/>
                </a:solidFill>
              </a:rPr>
              <a:t>字符串转换为对应的</a:t>
            </a:r>
            <a:r>
              <a:rPr lang="en-US" altLang="zh-CN" dirty="0">
                <a:solidFill>
                  <a:schemeClr val="bg1"/>
                </a:solidFill>
              </a:rPr>
              <a:t>Java</a:t>
            </a:r>
            <a:r>
              <a:rPr lang="zh-CN" altLang="en-US" dirty="0">
                <a:solidFill>
                  <a:schemeClr val="bg1"/>
                </a:solidFill>
              </a:rPr>
              <a:t>对象。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"/>
          <p:cNvSpPr/>
          <p:nvPr/>
        </p:nvSpPr>
        <p:spPr>
          <a:xfrm>
            <a:off x="4813526" y="104774"/>
            <a:ext cx="2564948" cy="2143125"/>
          </a:xfrm>
          <a:custGeom>
            <a:avLst/>
            <a:gdLst>
              <a:gd name="connsiteX0" fmla="*/ 0 w 2762250"/>
              <a:gd name="connsiteY0" fmla="*/ 0 h 2466975"/>
              <a:gd name="connsiteX1" fmla="*/ 2762250 w 2762250"/>
              <a:gd name="connsiteY1" fmla="*/ 0 h 2466975"/>
              <a:gd name="connsiteX2" fmla="*/ 2762250 w 2762250"/>
              <a:gd name="connsiteY2" fmla="*/ 2466975 h 2466975"/>
              <a:gd name="connsiteX3" fmla="*/ 0 w 2762250"/>
              <a:gd name="connsiteY3" fmla="*/ 2466975 h 2466975"/>
              <a:gd name="connsiteX4" fmla="*/ 0 w 2762250"/>
              <a:gd name="connsiteY4" fmla="*/ 0 h 2466975"/>
              <a:gd name="connsiteX0-1" fmla="*/ 0 w 2762250"/>
              <a:gd name="connsiteY0-2" fmla="*/ 0 h 2476500"/>
              <a:gd name="connsiteX1-3" fmla="*/ 2762250 w 2762250"/>
              <a:gd name="connsiteY1-4" fmla="*/ 0 h 2476500"/>
              <a:gd name="connsiteX2-5" fmla="*/ 2762250 w 2762250"/>
              <a:gd name="connsiteY2-6" fmla="*/ 2466975 h 2476500"/>
              <a:gd name="connsiteX3-7" fmla="*/ 1428750 w 2762250"/>
              <a:gd name="connsiteY3-8" fmla="*/ 2476500 h 2476500"/>
              <a:gd name="connsiteX4-9" fmla="*/ 0 w 2762250"/>
              <a:gd name="connsiteY4-10" fmla="*/ 2466975 h 2476500"/>
              <a:gd name="connsiteX5" fmla="*/ 0 w 2762250"/>
              <a:gd name="connsiteY5" fmla="*/ 0 h 2476500"/>
              <a:gd name="connsiteX0-11" fmla="*/ 0 w 2762250"/>
              <a:gd name="connsiteY0-12" fmla="*/ 0 h 2895600"/>
              <a:gd name="connsiteX1-13" fmla="*/ 2762250 w 2762250"/>
              <a:gd name="connsiteY1-14" fmla="*/ 0 h 2895600"/>
              <a:gd name="connsiteX2-15" fmla="*/ 2762250 w 2762250"/>
              <a:gd name="connsiteY2-16" fmla="*/ 2466975 h 2895600"/>
              <a:gd name="connsiteX3-17" fmla="*/ 1428750 w 2762250"/>
              <a:gd name="connsiteY3-18" fmla="*/ 2895600 h 2895600"/>
              <a:gd name="connsiteX4-19" fmla="*/ 0 w 2762250"/>
              <a:gd name="connsiteY4-20" fmla="*/ 2466975 h 2895600"/>
              <a:gd name="connsiteX5-21" fmla="*/ 0 w 2762250"/>
              <a:gd name="connsiteY5-22" fmla="*/ 0 h 2895600"/>
              <a:gd name="connsiteX0-23" fmla="*/ 0 w 2762250"/>
              <a:gd name="connsiteY0-24" fmla="*/ 0 h 2895600"/>
              <a:gd name="connsiteX1-25" fmla="*/ 2762250 w 2762250"/>
              <a:gd name="connsiteY1-26" fmla="*/ 0 h 2895600"/>
              <a:gd name="connsiteX2-27" fmla="*/ 2762250 w 2762250"/>
              <a:gd name="connsiteY2-28" fmla="*/ 2466975 h 2895600"/>
              <a:gd name="connsiteX3-29" fmla="*/ 1356946 w 2762250"/>
              <a:gd name="connsiteY3-30" fmla="*/ 2895600 h 2895600"/>
              <a:gd name="connsiteX4-31" fmla="*/ 0 w 2762250"/>
              <a:gd name="connsiteY4-32" fmla="*/ 2466975 h 2895600"/>
              <a:gd name="connsiteX5-33" fmla="*/ 0 w 2762250"/>
              <a:gd name="connsiteY5-34" fmla="*/ 0 h 2895600"/>
              <a:gd name="connsiteX0-35" fmla="*/ 0 w 2762250"/>
              <a:gd name="connsiteY0-36" fmla="*/ 0 h 2895600"/>
              <a:gd name="connsiteX1-37" fmla="*/ 2762250 w 2762250"/>
              <a:gd name="connsiteY1-38" fmla="*/ 0 h 2895600"/>
              <a:gd name="connsiteX2-39" fmla="*/ 2762250 w 2762250"/>
              <a:gd name="connsiteY2-40" fmla="*/ 2466975 h 2895600"/>
              <a:gd name="connsiteX3-41" fmla="*/ 1397977 w 2762250"/>
              <a:gd name="connsiteY3-42" fmla="*/ 2895600 h 2895600"/>
              <a:gd name="connsiteX4-43" fmla="*/ 0 w 2762250"/>
              <a:gd name="connsiteY4-44" fmla="*/ 2466975 h 2895600"/>
              <a:gd name="connsiteX5-45" fmla="*/ 0 w 2762250"/>
              <a:gd name="connsiteY5-46" fmla="*/ 0 h 2895600"/>
              <a:gd name="connsiteX0-47" fmla="*/ 0 w 2762250"/>
              <a:gd name="connsiteY0-48" fmla="*/ 0 h 2895600"/>
              <a:gd name="connsiteX1-49" fmla="*/ 2762250 w 2762250"/>
              <a:gd name="connsiteY1-50" fmla="*/ 0 h 2895600"/>
              <a:gd name="connsiteX2-51" fmla="*/ 2762250 w 2762250"/>
              <a:gd name="connsiteY2-52" fmla="*/ 2466975 h 2895600"/>
              <a:gd name="connsiteX3-53" fmla="*/ 1377461 w 2762250"/>
              <a:gd name="connsiteY3-54" fmla="*/ 2895600 h 2895600"/>
              <a:gd name="connsiteX4-55" fmla="*/ 0 w 2762250"/>
              <a:gd name="connsiteY4-56" fmla="*/ 2466975 h 2895600"/>
              <a:gd name="connsiteX5-57" fmla="*/ 0 w 2762250"/>
              <a:gd name="connsiteY5-58" fmla="*/ 0 h 2895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762250" h="2895600">
                <a:moveTo>
                  <a:pt x="0" y="0"/>
                </a:moveTo>
                <a:lnTo>
                  <a:pt x="2762250" y="0"/>
                </a:lnTo>
                <a:lnTo>
                  <a:pt x="2762250" y="2466975"/>
                </a:lnTo>
                <a:lnTo>
                  <a:pt x="1377461" y="2895600"/>
                </a:lnTo>
                <a:lnTo>
                  <a:pt x="0" y="2466975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5130" y="539115"/>
            <a:ext cx="1188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7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2784763" y="4006800"/>
            <a:ext cx="6710400" cy="583200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项目功能浏览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7530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用户登录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D4E815-F3B3-4F1D-AE4F-744455CA2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961" y="847857"/>
            <a:ext cx="9546077" cy="536966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管理员：主页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EADCC1-B57A-45BA-B7BC-CA467E3A9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623" y="847857"/>
            <a:ext cx="9414753" cy="52328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596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管理员：用户管理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80EA5E-4E79-42BA-8491-2E8272D49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421" y="847857"/>
            <a:ext cx="9093741" cy="51012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6141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管理员：角色管理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85E8E1-9240-4501-91F2-9DC502B46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689" y="873844"/>
            <a:ext cx="9241277" cy="51962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0267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管理员：学院管理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03ED1F5-8A27-4AD1-B79A-650C70F62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1" y="997085"/>
            <a:ext cx="4320000" cy="243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2D9991D-662E-4367-B8F2-3A7D24E9F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333" y="997085"/>
            <a:ext cx="4609830" cy="244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AA5D7A-F8DA-4926-BE79-B7F297D46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891" y="4001108"/>
            <a:ext cx="4323404" cy="24319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FB98722-B1EB-4BB7-85FD-07D7D02C1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429" y="4001108"/>
            <a:ext cx="4688733" cy="24319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18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教师：教材添加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52BEFE-5108-429B-97A9-08000EC36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03" y="847857"/>
            <a:ext cx="9076393" cy="51054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623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学生：选课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8E8EF0-A411-473D-B54E-543780752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252" y="847857"/>
            <a:ext cx="8832714" cy="49498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8942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11941" y="264292"/>
            <a:ext cx="46077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Lao UI" panose="020B0502040204020203" pitchFamily="34" charset="0"/>
              </a:rPr>
              <a:t>供应商：采购单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1844686-6429-4A08-B04A-30F0AAFDB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702" y="847857"/>
            <a:ext cx="9042344" cy="50860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9445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感谢聆听</a:t>
            </a:r>
          </a:p>
        </p:txBody>
      </p:sp>
      <p:sp>
        <p:nvSpPr>
          <p:cNvPr id="11" name="内容占位符 10"/>
          <p:cNvSpPr txBox="1">
            <a:spLocks noGrp="1"/>
          </p:cNvSpPr>
          <p:nvPr>
            <p:ph sz="quarter" idx="13"/>
          </p:nvPr>
        </p:nvSpPr>
        <p:spPr>
          <a:xfrm>
            <a:off x="4311938" y="3993349"/>
            <a:ext cx="3568123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感谢老师的指导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6A275DA3-3A44-463A-980D-DE79DFCF13E5}"/>
              </a:ext>
            </a:extLst>
          </p:cNvPr>
          <p:cNvSpPr txBox="1"/>
          <p:nvPr/>
        </p:nvSpPr>
        <p:spPr>
          <a:xfrm>
            <a:off x="1741170" y="4517900"/>
            <a:ext cx="8709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通过本次项目实战，熟悉了</a:t>
            </a:r>
            <a:r>
              <a:rPr lang="en-US" altLang="zh-CN" dirty="0"/>
              <a:t>SSM</a:t>
            </a:r>
            <a:r>
              <a:rPr lang="zh-CN" altLang="en-US" dirty="0"/>
              <a:t>框架的使用，积累了搭建</a:t>
            </a:r>
            <a:r>
              <a:rPr lang="en-US" altLang="zh-CN" dirty="0"/>
              <a:t>Web</a:t>
            </a:r>
            <a:r>
              <a:rPr lang="zh-CN" altLang="en-US" dirty="0"/>
              <a:t>项目的经验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13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13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TEMPLATE_THUMBS_INDEX" val="1、2、3、4、6、8、10、12、16、18、21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1"/>
  <p:tag name="KSO_WM_SLIDE_INDEX" val="1"/>
  <p:tag name="KSO_WM_SLIDE_ITEM_CNT" val="0"/>
  <p:tag name="KSO_WM_SLIDE_TYPE" val="title"/>
  <p:tag name="KSO_WM_TEMPLATE_THUMBS_INDEX" val="1、2、3、4、6、8、10、12、16、18、21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"/>
  <p:tag name="KSO_WM_SLIDE_INDEX" val="2"/>
  <p:tag name="KSO_WM_SLIDE_ITEM_CNT" val="0"/>
  <p:tag name="KSO_WM_SLIDE_TYPE" val="contents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3"/>
  <p:tag name="KSO_WM_SLIDE_INDEX" val="3"/>
  <p:tag name="KSO_WM_SLIDE_ITEM_CNT" val="0"/>
  <p:tag name="KSO_WM_SLIDE_TYPE" val="sectionTitle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5"/>
  <p:tag name="KSO_WM_SLIDE_INDEX" val="5"/>
  <p:tag name="KSO_WM_SLIDE_ITEM_CNT" val="0"/>
  <p:tag name="KSO_WM_SLIDE_TYPE" val="text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3"/>
  <p:tag name="KSO_WM_SLIDE_INDEX" val="3"/>
  <p:tag name="KSO_WM_SLIDE_ITEM_CNT" val="0"/>
  <p:tag name="KSO_WM_SLIDE_TYPE" val="sectionTitle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6"/>
  <p:tag name="KSO_WM_SLIDE_INDEX" val="6"/>
  <p:tag name="KSO_WM_SLIDE_ITEM_CNT" val="0"/>
  <p:tag name="KSO_WM_SLIDE_TYPE" val="text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7"/>
  <p:tag name="KSO_WM_SLIDE_INDEX" val="7"/>
  <p:tag name="KSO_WM_SLIDE_ITEM_CNT" val="0"/>
  <p:tag name="KSO_WM_SLIDE_TYPE" val="text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9"/>
  <p:tag name="KSO_WM_SLIDE_INDEX" val="9"/>
  <p:tag name="KSO_WM_SLIDE_ITEM_CNT" val="0"/>
  <p:tag name="KSO_WM_SLIDE_TYPE" val="text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3"/>
  <p:tag name="KSO_WM_SLIDE_INDEX" val="3"/>
  <p:tag name="KSO_WM_SLIDE_ITEM_CNT" val="0"/>
  <p:tag name="KSO_WM_SLIDE_TYPE" val="sectionTitle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13"/>
  <p:tag name="KSO_WM_SLIDE_INDEX" val="13"/>
  <p:tag name="KSO_WM_SLIDE_ITEM_CNT" val="0"/>
  <p:tag name="KSO_WM_SLIDE_TYPE" val="text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3"/>
  <p:tag name="KSO_WM_SLIDE_INDEX" val="3"/>
  <p:tag name="KSO_WM_SLIDE_ITEM_CNT" val="0"/>
  <p:tag name="KSO_WM_SLIDE_TYPE" val="sectionTitle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0"/>
  <p:tag name="KSO_WM_SLIDE_INDEX" val="20"/>
  <p:tag name="KSO_WM_SLIDE_ITEM_CNT" val="0"/>
  <p:tag name="KSO_WM_SLIDE_TYPE" val="text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1350"/>
  <p:tag name="KSO_WM_TAG_VERSION" val="1.0"/>
  <p:tag name="KSO_WM_SLIDE_ID" val="basetag20161350_21"/>
  <p:tag name="KSO_WM_SLIDE_INDEX" val="21"/>
  <p:tag name="KSO_WM_SLIDE_ITEM_CNT" val="0"/>
  <p:tag name="KSO_WM_SLIDE_TYPE" val="endPag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409</Words>
  <Application>Microsoft Office PowerPoint</Application>
  <PresentationFormat>宽屏</PresentationFormat>
  <Paragraphs>73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DFKai-SB</vt:lpstr>
      <vt:lpstr>Dotum</vt:lpstr>
      <vt:lpstr>方正幼线简体</vt:lpstr>
      <vt:lpstr>黑体</vt:lpstr>
      <vt:lpstr>微软雅黑</vt:lpstr>
      <vt:lpstr>Arial</vt:lpstr>
      <vt:lpstr>Calibri</vt:lpstr>
      <vt:lpstr>Calibri Light</vt:lpstr>
      <vt:lpstr>Impact</vt:lpstr>
      <vt:lpstr>Office 主题</vt:lpstr>
      <vt:lpstr>1_Office 主题</vt:lpstr>
      <vt:lpstr>PowerPoint 演示文稿</vt:lpstr>
      <vt:lpstr>PowerPoint 演示文稿</vt:lpstr>
      <vt:lpstr>项目简介</vt:lpstr>
      <vt:lpstr>PowerPoint 演示文稿</vt:lpstr>
      <vt:lpstr>项目架构</vt:lpstr>
      <vt:lpstr>PowerPoint 演示文稿</vt:lpstr>
      <vt:lpstr>PowerPoint 演示文稿</vt:lpstr>
      <vt:lpstr>PowerPoint 演示文稿</vt:lpstr>
      <vt:lpstr>项目应用技术</vt:lpstr>
      <vt:lpstr>PowerPoint 演示文稿</vt:lpstr>
      <vt:lpstr>项目功能浏览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Mingrui Zhang</dc:creator>
  <cp:lastModifiedBy>fengjj</cp:lastModifiedBy>
  <cp:revision>86</cp:revision>
  <dcterms:created xsi:type="dcterms:W3CDTF">2015-05-05T08:02:00Z</dcterms:created>
  <dcterms:modified xsi:type="dcterms:W3CDTF">2021-02-22T08:40:25Z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